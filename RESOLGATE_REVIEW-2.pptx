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2339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microsoft.com/office/2007/relationships/hdphoto" Target="../media/hdphoto1.wdp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microsoft.com/office/2007/relationships/hdphoto" Target="../media/hdphoto1.wdp"/><Relationship Id="rId4" Type="http://schemas.openxmlformats.org/officeDocument/2006/relationships/image" Target="../media/image16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6.png"/><Relationship Id="rId15" Type="http://schemas.openxmlformats.org/officeDocument/2006/relationships/image" Target="../media/image7.png"/><Relationship Id="rId10" Type="http://schemas.openxmlformats.org/officeDocument/2006/relationships/image" Target="../media/image30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6.png"/><Relationship Id="rId9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3" Type="http://schemas.openxmlformats.org/officeDocument/2006/relationships/image" Target="../media/image6.png"/><Relationship Id="rId21" Type="http://schemas.openxmlformats.org/officeDocument/2006/relationships/image" Target="../media/image56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51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23" Type="http://schemas.microsoft.com/office/2007/relationships/hdphoto" Target="../media/hdphoto1.wdp"/><Relationship Id="rId10" Type="http://schemas.openxmlformats.org/officeDocument/2006/relationships/image" Target="../media/image45.png"/><Relationship Id="rId19" Type="http://schemas.openxmlformats.org/officeDocument/2006/relationships/image" Target="../media/image54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Relationship Id="rId22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9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microsoft.com/office/2007/relationships/hdphoto" Target="../media/hdphoto1.wdp"/><Relationship Id="rId3" Type="http://schemas.openxmlformats.org/officeDocument/2006/relationships/image" Target="../media/image69.png"/><Relationship Id="rId7" Type="http://schemas.openxmlformats.org/officeDocument/2006/relationships/image" Target="../media/image72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76.png"/><Relationship Id="rId5" Type="http://schemas.openxmlformats.org/officeDocument/2006/relationships/image" Target="../media/image71.png"/><Relationship Id="rId10" Type="http://schemas.openxmlformats.org/officeDocument/2006/relationships/image" Target="../media/image75.png"/><Relationship Id="rId4" Type="http://schemas.openxmlformats.org/officeDocument/2006/relationships/image" Target="../media/image70.png"/><Relationship Id="rId9" Type="http://schemas.openxmlformats.org/officeDocument/2006/relationships/image" Target="../media/image7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81.png"/><Relationship Id="rId7" Type="http://schemas.microsoft.com/office/2007/relationships/hdphoto" Target="../media/hdphoto1.wdp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82.png"/><Relationship Id="rId4" Type="http://schemas.openxmlformats.org/officeDocument/2006/relationships/image" Target="../media/image6.png"/><Relationship Id="rId9" Type="http://schemas.openxmlformats.org/officeDocument/2006/relationships/image" Target="../media/image8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5.png"/><Relationship Id="rId7" Type="http://schemas.openxmlformats.org/officeDocument/2006/relationships/image" Target="../media/image88.png"/><Relationship Id="rId12" Type="http://schemas.openxmlformats.org/officeDocument/2006/relationships/image" Target="../media/image9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11" Type="http://schemas.openxmlformats.org/officeDocument/2006/relationships/image" Target="../media/image90.png"/><Relationship Id="rId5" Type="http://schemas.openxmlformats.org/officeDocument/2006/relationships/image" Target="../media/image6.png"/><Relationship Id="rId10" Type="http://schemas.microsoft.com/office/2007/relationships/hdphoto" Target="../media/hdphoto1.wdp"/><Relationship Id="rId4" Type="http://schemas.openxmlformats.org/officeDocument/2006/relationships/image" Target="../media/image86.png"/><Relationship Id="rId9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6.png"/><Relationship Id="rId7" Type="http://schemas.openxmlformats.org/officeDocument/2006/relationships/image" Target="../media/image9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5" Type="http://schemas.openxmlformats.org/officeDocument/2006/relationships/image" Target="../media/image72.png"/><Relationship Id="rId10" Type="http://schemas.microsoft.com/office/2007/relationships/hdphoto" Target="../media/hdphoto1.wdp"/><Relationship Id="rId4" Type="http://schemas.openxmlformats.org/officeDocument/2006/relationships/image" Target="../media/image95.png"/><Relationship Id="rId9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8.png"/><Relationship Id="rId3" Type="http://schemas.openxmlformats.org/officeDocument/2006/relationships/image" Target="../media/image6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5" Type="http://schemas.openxmlformats.org/officeDocument/2006/relationships/image" Target="../media/image100.png"/><Relationship Id="rId15" Type="http://schemas.microsoft.com/office/2007/relationships/hdphoto" Target="../media/hdphoto1.wdp"/><Relationship Id="rId10" Type="http://schemas.openxmlformats.org/officeDocument/2006/relationships/image" Target="../media/image105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Relationship Id="rId1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8.png"/><Relationship Id="rId3" Type="http://schemas.openxmlformats.org/officeDocument/2006/relationships/image" Target="../media/image109.png"/><Relationship Id="rId7" Type="http://schemas.openxmlformats.org/officeDocument/2006/relationships/image" Target="../media/image112.png"/><Relationship Id="rId12" Type="http://schemas.openxmlformats.org/officeDocument/2006/relationships/image" Target="../media/image1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6.png"/><Relationship Id="rId5" Type="http://schemas.openxmlformats.org/officeDocument/2006/relationships/image" Target="../media/image111.png"/><Relationship Id="rId15" Type="http://schemas.microsoft.com/office/2007/relationships/hdphoto" Target="../media/hdphoto1.wdp"/><Relationship Id="rId10" Type="http://schemas.openxmlformats.org/officeDocument/2006/relationships/image" Target="../media/image115.png"/><Relationship Id="rId4" Type="http://schemas.openxmlformats.org/officeDocument/2006/relationships/image" Target="../media/image110.png"/><Relationship Id="rId9" Type="http://schemas.openxmlformats.org/officeDocument/2006/relationships/image" Target="../media/image114.png"/><Relationship Id="rId1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microsoft.com/office/2007/relationships/hdphoto" Target="../media/hdphoto1.wdp"/><Relationship Id="rId3" Type="http://schemas.openxmlformats.org/officeDocument/2006/relationships/image" Target="../media/image69.png"/><Relationship Id="rId7" Type="http://schemas.openxmlformats.org/officeDocument/2006/relationships/image" Target="../media/image119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23.png"/><Relationship Id="rId5" Type="http://schemas.openxmlformats.org/officeDocument/2006/relationships/image" Target="../media/image71.png"/><Relationship Id="rId10" Type="http://schemas.openxmlformats.org/officeDocument/2006/relationships/image" Target="../media/image122.png"/><Relationship Id="rId4" Type="http://schemas.openxmlformats.org/officeDocument/2006/relationships/image" Target="../media/image70.png"/><Relationship Id="rId9" Type="http://schemas.openxmlformats.org/officeDocument/2006/relationships/image" Target="../media/image1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microsoft.com/office/2007/relationships/hdphoto" Target="../media/hdphoto1.wdp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6.png"/><Relationship Id="rId7" Type="http://schemas.openxmlformats.org/officeDocument/2006/relationships/image" Target="../media/image1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resolgate.vercel.app/entry" TargetMode="External"/><Relationship Id="rId5" Type="http://schemas.openxmlformats.org/officeDocument/2006/relationships/image" Target="../media/image127.png"/><Relationship Id="rId10" Type="http://schemas.microsoft.com/office/2007/relationships/hdphoto" Target="../media/hdphoto1.wdp"/><Relationship Id="rId4" Type="http://schemas.openxmlformats.org/officeDocument/2006/relationships/image" Target="../media/image126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477195" y="0"/>
            <a:ext cx="1714500" cy="17145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0" y="5143500"/>
            <a:ext cx="1714500" cy="171450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6"/>
          <a:srcRect t="-408" b="-408"/>
          <a:stretch/>
        </p:blipFill>
        <p:spPr>
          <a:xfrm>
            <a:off x="5143500" y="3571646"/>
            <a:ext cx="1904695" cy="38405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3238805" y="5477256"/>
            <a:ext cx="5734202" cy="780898"/>
          </a:xfrm>
          <a:prstGeom prst="roundRect">
            <a:avLst>
              <a:gd name="adj" fmla="val 228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3"/>
          <p:cNvSpPr txBox="1"/>
          <p:nvPr/>
        </p:nvSpPr>
        <p:spPr>
          <a:xfrm>
            <a:off x="514807" y="571500"/>
            <a:ext cx="11163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75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Department of Computer Science &amp; Engineering, CMR Technical Campus</a:t>
            </a:r>
            <a:endParaRPr lang="en-US" sz="1300" dirty="0"/>
          </a:p>
        </p:txBody>
      </p:sp>
      <p:sp>
        <p:nvSpPr>
          <p:cNvPr id="11" name="Text 4"/>
          <p:cNvSpPr txBox="1"/>
          <p:nvPr/>
        </p:nvSpPr>
        <p:spPr>
          <a:xfrm>
            <a:off x="514807" y="857707"/>
            <a:ext cx="111639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(UGC Autonomous | Accredited by NAAC, NBA)</a:t>
            </a:r>
            <a:endParaRPr lang="en-US" sz="1000" dirty="0"/>
          </a:p>
        </p:txBody>
      </p:sp>
      <p:sp>
        <p:nvSpPr>
          <p:cNvPr id="12" name="Text 5"/>
          <p:cNvSpPr txBox="1"/>
          <p:nvPr/>
        </p:nvSpPr>
        <p:spPr>
          <a:xfrm>
            <a:off x="514807" y="1524305"/>
            <a:ext cx="11163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1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B.Tech Industrial-Oriented Mini Project (2025–26)</a:t>
            </a:r>
            <a:endParaRPr lang="en-US" sz="1200" dirty="0"/>
          </a:p>
        </p:txBody>
      </p:sp>
      <p:sp>
        <p:nvSpPr>
          <p:cNvPr id="13" name="Text 6"/>
          <p:cNvSpPr txBox="1"/>
          <p:nvPr/>
        </p:nvSpPr>
        <p:spPr>
          <a:xfrm>
            <a:off x="1265530" y="2000707"/>
            <a:ext cx="9661550" cy="142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2C5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RESOLGATE: An AI-Assisted Approval-Based Knowledge Repository for Education and Rural Learning</a:t>
            </a:r>
            <a:endParaRPr lang="en-US" sz="2800" dirty="0"/>
          </a:p>
        </p:txBody>
      </p:sp>
      <p:sp>
        <p:nvSpPr>
          <p:cNvPr id="14" name="Text 7"/>
          <p:cNvSpPr txBox="1"/>
          <p:nvPr/>
        </p:nvSpPr>
        <p:spPr>
          <a:xfrm>
            <a:off x="1904695" y="3810305"/>
            <a:ext cx="3924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Presented By:</a:t>
            </a:r>
            <a:endParaRPr lang="en-US" sz="1200" dirty="0"/>
          </a:p>
        </p:txBody>
      </p:sp>
      <p:sp>
        <p:nvSpPr>
          <p:cNvPr id="15" name="Text 8"/>
          <p:cNvSpPr txBox="1"/>
          <p:nvPr/>
        </p:nvSpPr>
        <p:spPr>
          <a:xfrm>
            <a:off x="1904695" y="4143146"/>
            <a:ext cx="38862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VADLA ABHILASH CHARY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237R1A05Y6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1904695" y="4665269"/>
            <a:ext cx="38862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SABAVAT RAHUL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247R5A0529</a:t>
            </a:r>
            <a:endParaRPr lang="en-US" sz="1200" dirty="0"/>
          </a:p>
        </p:txBody>
      </p:sp>
      <p:sp>
        <p:nvSpPr>
          <p:cNvPr id="17" name="Text 10"/>
          <p:cNvSpPr txBox="1"/>
          <p:nvPr/>
        </p:nvSpPr>
        <p:spPr>
          <a:xfrm>
            <a:off x="1904695" y="5187391"/>
            <a:ext cx="38862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BANDI BHAVITHA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247R5A0526</a:t>
            </a:r>
            <a:endParaRPr lang="en-US" sz="1200" dirty="0"/>
          </a:p>
        </p:txBody>
      </p:sp>
      <p:sp>
        <p:nvSpPr>
          <p:cNvPr id="18" name="Text 11"/>
          <p:cNvSpPr txBox="1"/>
          <p:nvPr/>
        </p:nvSpPr>
        <p:spPr>
          <a:xfrm>
            <a:off x="6553505" y="3810305"/>
            <a:ext cx="3924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 the Guidance of: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6553505" y="4143146"/>
            <a:ext cx="3924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Bhagyashree B.M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6553505" y="4431182"/>
            <a:ext cx="3924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Assistant Professor</a:t>
            </a:r>
            <a:endParaRPr lang="en-US" sz="1100" dirty="0"/>
          </a:p>
        </p:txBody>
      </p:sp>
      <p:sp>
        <p:nvSpPr>
          <p:cNvPr id="21" name="Text 14"/>
          <p:cNvSpPr txBox="1"/>
          <p:nvPr/>
        </p:nvSpPr>
        <p:spPr>
          <a:xfrm>
            <a:off x="3372307" y="5619902"/>
            <a:ext cx="54489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Demo:</a:t>
            </a:r>
            <a:r>
              <a:rPr lang="en-US" sz="100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https://resolgate.vercel.app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3372307" y="5857646"/>
            <a:ext cx="54489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Code:</a:t>
            </a:r>
            <a:r>
              <a:rPr lang="en-US" sz="100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https://github.com/Abhilashchary/code-resol-vault</a:t>
            </a:r>
            <a:endParaRPr lang="en-US" sz="1000" dirty="0"/>
          </a:p>
        </p:txBody>
      </p:sp>
      <p:pic>
        <p:nvPicPr>
          <p:cNvPr id="25" name="Picture 24" descr="Bees Erp Login">
            <a:extLst>
              <a:ext uri="{FF2B5EF4-FFF2-40B4-BE49-F238E27FC236}">
                <a16:creationId xmlns:a16="http://schemas.microsoft.com/office/drawing/2014/main" id="{504788AF-6630-76F7-25E2-563F5B170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1696" cy="2027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19695" y="1904695"/>
            <a:ext cx="3810305" cy="3810305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667805"/>
            <a:ext cx="12191695" cy="190195"/>
          </a:xfrm>
          <a:prstGeom prst="rect">
            <a:avLst/>
          </a:prstGeom>
          <a:solidFill>
            <a:srgbClr val="0F2C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952805"/>
            <a:ext cx="12191695" cy="384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71500" y="286207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75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952805" y="1333195"/>
            <a:ext cx="48390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 &amp; Project Purpose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 of the file management platform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52805" y="2038198"/>
            <a:ext cx="48390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 &amp; Existing System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 of current solutions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52805" y="2743200"/>
            <a:ext cx="48390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System &amp; Objectives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innovations and project goals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52805" y="3448202"/>
            <a:ext cx="48390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Survey Summary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of related work and research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4153205"/>
            <a:ext cx="48390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 &amp; Data Flow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layers and information flow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4858207"/>
            <a:ext cx="48390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&amp; Modules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 details and components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52805" y="5562295"/>
            <a:ext cx="48390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/ Screenshots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demonstration of the platform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76695" y="1333195"/>
            <a:ext cx="48390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&amp; Technologies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Frontend, backend, and database stack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76695" y="2038198"/>
            <a:ext cx="48390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&amp; Validation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 strategies and test cases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476695" y="2743200"/>
            <a:ext cx="48390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Progress &amp; Deployment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status on Vercel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476695" y="3448202"/>
            <a:ext cx="48390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&amp; Software Requirements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prerequisites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476695" y="4153205"/>
            <a:ext cx="48390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Work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 enhancements and features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476695" y="4858207"/>
            <a:ext cx="48390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 &amp; References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thoughts and citations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687007"/>
            <a:ext cx="111639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Project Review | Dept. of CSE, CMR Technical Campus</a:t>
            </a:r>
            <a:endParaRPr lang="en-US" sz="800" dirty="0"/>
          </a:p>
        </p:txBody>
      </p:sp>
      <p:pic>
        <p:nvPicPr>
          <p:cNvPr id="24" name="Image 7">
            <a:extLst>
              <a:ext uri="{FF2B5EF4-FFF2-40B4-BE49-F238E27FC236}">
                <a16:creationId xmlns:a16="http://schemas.microsoft.com/office/drawing/2014/main" id="{E7812075-51EF-2CC4-F2D7-341C384C9ECD}"/>
              </a:ext>
            </a:extLst>
          </p:cNvPr>
          <p:cNvPicPr>
            <a:picLocks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1114569" y="-65315"/>
            <a:ext cx="1013082" cy="11622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72500" y="1429207"/>
            <a:ext cx="3333902" cy="3333902"/>
          </a:xfrm>
          <a:prstGeom prst="ellipse">
            <a:avLst/>
          </a:prstGeom>
          <a:solidFill>
            <a:srgbClr val="0F2C59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2190902"/>
            <a:ext cx="5372100" cy="4190695"/>
          </a:xfrm>
          <a:prstGeom prst="roundRect">
            <a:avLst>
              <a:gd name="adj" fmla="val 397"/>
            </a:avLst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2190902"/>
            <a:ext cx="38405" cy="4190695"/>
          </a:xfrm>
          <a:prstGeom prst="roundRect">
            <a:avLst>
              <a:gd name="adj" fmla="val 4329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86500" y="2190902"/>
            <a:ext cx="5372100" cy="4190695"/>
          </a:xfrm>
          <a:prstGeom prst="roundRect">
            <a:avLst>
              <a:gd name="adj" fmla="val 397"/>
            </a:avLst>
          </a:prstGeom>
          <a:solidFill>
            <a:srgbClr val="F0FDF4"/>
          </a:solidFill>
          <a:ln/>
        </p:spPr>
      </p:sp>
      <p:sp>
        <p:nvSpPr>
          <p:cNvPr id="9" name="Shape 7"/>
          <p:cNvSpPr/>
          <p:nvPr/>
        </p:nvSpPr>
        <p:spPr>
          <a:xfrm>
            <a:off x="6286500" y="2190902"/>
            <a:ext cx="38405" cy="4190695"/>
          </a:xfrm>
          <a:prstGeom prst="roundRect">
            <a:avLst>
              <a:gd name="adj" fmla="val 43290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667805"/>
            <a:ext cx="12191695" cy="190195"/>
          </a:xfrm>
          <a:prstGeom prst="rect">
            <a:avLst/>
          </a:prstGeom>
          <a:solidFill>
            <a:srgbClr val="0F2C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952805"/>
            <a:ext cx="12191695" cy="384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71500" y="286207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75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 &amp; PROJECT PURPOSE</a:t>
            </a:r>
            <a:endParaRPr lang="en-US" sz="2700" dirty="0"/>
          </a:p>
        </p:txBody>
      </p:sp>
      <p:sp>
        <p:nvSpPr>
          <p:cNvPr id="13" name="Text 10"/>
          <p:cNvSpPr txBox="1"/>
          <p:nvPr/>
        </p:nvSpPr>
        <p:spPr>
          <a:xfrm>
            <a:off x="571500" y="1333195"/>
            <a:ext cx="111255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is a comprehensive, production-grade file management platform deployed on Vercel, combining secure sharing, approval workflows, and AI moderation on a scalable serverless architecture.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61695" y="2333549"/>
            <a:ext cx="5067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 CAPABILITIES</a:t>
            </a:r>
            <a:endParaRPr lang="en-US" sz="15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1695" y="2809951"/>
            <a:ext cx="190195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95451" y="2809951"/>
            <a:ext cx="44577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Sharing:</a:t>
            </a: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Hierarchical organization with guest-based authentication and time-limited links. </a:t>
            </a:r>
            <a:endParaRPr lang="en-US" sz="1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1695" y="3619195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95451" y="3619195"/>
            <a:ext cx="44577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Workflows:</a:t>
            </a: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Configurable, multi-stage queues for admin review before publication. </a:t>
            </a:r>
            <a:endParaRPr lang="en-US" sz="12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1695" y="4429354"/>
            <a:ext cx="237744" cy="19019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95451" y="4429354"/>
            <a:ext cx="44577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Moderation:</a:t>
            </a: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Serverless AI models automatically analyze content safety to reduce manual overhead. </a:t>
            </a:r>
            <a:endParaRPr lang="en-US" sz="12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761695" y="5238598"/>
            <a:ext cx="171907" cy="19019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95451" y="5238598"/>
            <a:ext cx="44577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&amp; Scalable:</a:t>
            </a: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Supabase subscriptions and Vercel Edge Functions ensure global availability. 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6476695" y="2333549"/>
            <a:ext cx="5067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65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PURPOSE</a:t>
            </a:r>
            <a:endParaRPr lang="en-US" sz="15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76695" y="2809951"/>
            <a:ext cx="237744" cy="19019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810451" y="2809951"/>
            <a:ext cx="44577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Priorities:</a:t>
            </a:r>
            <a:r>
              <a:rPr lang="en-US" sz="1200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Deliver an efficient system that balances compliance, security, and productivity without compromising usability. </a:t>
            </a:r>
            <a:endParaRPr lang="en-US" sz="12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476695" y="3619195"/>
            <a:ext cx="237744" cy="19019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810451" y="3619195"/>
            <a:ext cx="44577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Overhead:</a:t>
            </a:r>
            <a:r>
              <a:rPr lang="en-US" sz="1200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Automate approval processes via AI + human-in-the-loop workflows to minimize administrative burden. </a:t>
            </a:r>
            <a:endParaRPr lang="en-US" sz="12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6476695" y="4429354"/>
            <a:ext cx="171907" cy="190195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6810451" y="4429354"/>
            <a:ext cx="44577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Intuitive UX:</a:t>
            </a:r>
            <a:r>
              <a:rPr lang="en-US" sz="1200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Provide user-friendly interfaces (drag-and-drop, bulk uploads) tailored for education and rural learning contexts. </a:t>
            </a:r>
            <a:endParaRPr lang="en-US" sz="12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476695" y="5238598"/>
            <a:ext cx="190195" cy="190195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6810451" y="5238598"/>
            <a:ext cx="44577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Scale:</a:t>
            </a:r>
            <a:r>
              <a:rPr lang="en-US" sz="1200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Achieve high reliability and availability through modern serverless infrastructure. </a:t>
            </a:r>
            <a:endParaRPr lang="en-US" sz="1200" dirty="0"/>
          </a:p>
        </p:txBody>
      </p:sp>
      <p:sp>
        <p:nvSpPr>
          <p:cNvPr id="32" name="Text 21"/>
          <p:cNvSpPr txBox="1"/>
          <p:nvPr/>
        </p:nvSpPr>
        <p:spPr>
          <a:xfrm>
            <a:off x="457200" y="6687007"/>
            <a:ext cx="111639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Project Review | Dept. of CSE, CMR Technical Campus</a:t>
            </a:r>
            <a:endParaRPr lang="en-US" sz="800" dirty="0"/>
          </a:p>
        </p:txBody>
      </p:sp>
      <p:pic>
        <p:nvPicPr>
          <p:cNvPr id="35" name="Image 7">
            <a:extLst>
              <a:ext uri="{FF2B5EF4-FFF2-40B4-BE49-F238E27FC236}">
                <a16:creationId xmlns:a16="http://schemas.microsoft.com/office/drawing/2014/main" id="{B0D0E3A2-EA44-48EA-0D22-15873CED46AA}"/>
              </a:ext>
            </a:extLst>
          </p:cNvPr>
          <p:cNvPicPr>
            <a:picLocks/>
          </p:cNvPicPr>
          <p:nvPr/>
        </p:nvPicPr>
        <p:blipFill rotWithShape="1"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1114569" y="-65315"/>
            <a:ext cx="1013082" cy="11622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0" y="6667805"/>
            <a:ext cx="12191695" cy="190195"/>
          </a:xfrm>
          <a:prstGeom prst="rect">
            <a:avLst/>
          </a:prstGeom>
          <a:solidFill>
            <a:srgbClr val="0F2C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1904695"/>
            <a:ext cx="5391302" cy="1380744"/>
          </a:xfrm>
          <a:prstGeom prst="roundRect">
            <a:avLst>
              <a:gd name="adj" fmla="val 3654"/>
            </a:avLst>
          </a:prstGeom>
          <a:solidFill>
            <a:srgbClr val="FFF1F2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904695"/>
            <a:ext cx="57607" cy="1380744"/>
          </a:xfrm>
          <a:prstGeom prst="roundRect">
            <a:avLst>
              <a:gd name="adj" fmla="val 87576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86500" y="1904695"/>
            <a:ext cx="5391302" cy="1380744"/>
          </a:xfrm>
          <a:prstGeom prst="roundRect">
            <a:avLst>
              <a:gd name="adj" fmla="val 3654"/>
            </a:avLst>
          </a:prstGeom>
          <a:solidFill>
            <a:srgbClr val="FFF7ED"/>
          </a:solidFill>
          <a:ln/>
        </p:spPr>
      </p:sp>
      <p:sp>
        <p:nvSpPr>
          <p:cNvPr id="9" name="Shape 7"/>
          <p:cNvSpPr/>
          <p:nvPr/>
        </p:nvSpPr>
        <p:spPr>
          <a:xfrm>
            <a:off x="6286500" y="1904695"/>
            <a:ext cx="57607" cy="1380744"/>
          </a:xfrm>
          <a:prstGeom prst="roundRect">
            <a:avLst>
              <a:gd name="adj" fmla="val 87576"/>
            </a:avLst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1500" y="3429000"/>
            <a:ext cx="5391302" cy="1380744"/>
          </a:xfrm>
          <a:prstGeom prst="roundRect">
            <a:avLst>
              <a:gd name="adj" fmla="val 3654"/>
            </a:avLst>
          </a:prstGeom>
          <a:solidFill>
            <a:srgbClr val="FFF7ED"/>
          </a:solidFill>
          <a:ln/>
        </p:spPr>
      </p:sp>
      <p:sp>
        <p:nvSpPr>
          <p:cNvPr id="11" name="Shape 9"/>
          <p:cNvSpPr/>
          <p:nvPr/>
        </p:nvSpPr>
        <p:spPr>
          <a:xfrm>
            <a:off x="571500" y="3429000"/>
            <a:ext cx="57607" cy="1380744"/>
          </a:xfrm>
          <a:prstGeom prst="roundRect">
            <a:avLst>
              <a:gd name="adj" fmla="val 87576"/>
            </a:avLst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6500" y="3429000"/>
            <a:ext cx="5391302" cy="1380744"/>
          </a:xfrm>
          <a:prstGeom prst="roundRect">
            <a:avLst>
              <a:gd name="adj" fmla="val 3654"/>
            </a:avLst>
          </a:prstGeom>
          <a:solidFill>
            <a:srgbClr val="FFF1F2"/>
          </a:solidFill>
          <a:ln/>
        </p:spPr>
      </p:sp>
      <p:sp>
        <p:nvSpPr>
          <p:cNvPr id="13" name="Shape 11"/>
          <p:cNvSpPr/>
          <p:nvPr/>
        </p:nvSpPr>
        <p:spPr>
          <a:xfrm>
            <a:off x="6286500" y="3429000"/>
            <a:ext cx="57607" cy="1380744"/>
          </a:xfrm>
          <a:prstGeom prst="roundRect">
            <a:avLst>
              <a:gd name="adj" fmla="val 87576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" y="4953305"/>
            <a:ext cx="11106302" cy="1333195"/>
          </a:xfrm>
          <a:prstGeom prst="roundRect">
            <a:avLst>
              <a:gd name="adj" fmla="val 3919"/>
            </a:avLst>
          </a:prstGeom>
          <a:solidFill>
            <a:srgbClr val="FEFCE8"/>
          </a:solidFill>
          <a:ln/>
        </p:spPr>
      </p:sp>
      <p:sp>
        <p:nvSpPr>
          <p:cNvPr id="15" name="Shape 13"/>
          <p:cNvSpPr/>
          <p:nvPr/>
        </p:nvSpPr>
        <p:spPr>
          <a:xfrm>
            <a:off x="571500" y="4953305"/>
            <a:ext cx="57607" cy="1333195"/>
          </a:xfrm>
          <a:prstGeom prst="roundRect">
            <a:avLst>
              <a:gd name="adj" fmla="val 90703"/>
            </a:avLst>
          </a:prstGeom>
          <a:solidFill>
            <a:srgbClr val="CA8A04"/>
          </a:solidFill>
          <a:ln w="12700">
            <a:solidFill>
              <a:srgbClr val="CA8A04">
                <a:alpha val="0"/>
              </a:srgbClr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952805"/>
            <a:ext cx="12191695" cy="3840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71500" y="286207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75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" y="1238098"/>
            <a:ext cx="111255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Organizations face critical challenges in managing digital assets while maintaining security, compliance, and operational efficiency.</a:t>
            </a:r>
            <a:endParaRPr lang="en-US" sz="15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6851" y="2119579"/>
            <a:ext cx="267005" cy="26700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333195" y="2048256"/>
            <a:ext cx="44961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F123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Inconsistent Approval Processes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333195" y="2333549"/>
            <a:ext cx="44577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decisions vary significantly between reviewers, creating fairness issues. Distributed teams lack a systematic workflow to ensure consistent standards are applied to all content.</a:t>
            </a:r>
            <a:endParaRPr lang="en-US" sz="11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l="-685" r="-685"/>
          <a:stretch/>
        </p:blipFill>
        <p:spPr>
          <a:xfrm>
            <a:off x="6562649" y="2119579"/>
            <a:ext cx="304495" cy="26700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048195" y="2048256"/>
            <a:ext cx="44961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A34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Complex Hierarchy Management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7048195" y="2333549"/>
            <a:ext cx="4457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Folder structures become disorganized without strict controls. Maintaining complex permission hierarchies across distributed teams becomes unmanageable and difficult to audit as organizations scale.</a:t>
            </a:r>
            <a:endParaRPr lang="en-US" sz="11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6851" y="3642970"/>
            <a:ext cx="267005" cy="26700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33195" y="3571646"/>
            <a:ext cx="44961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A34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Limited Policy Enforcement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1333195" y="3857854"/>
            <a:ext cx="44577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Organizations lack mechanisms to systematically identify content violating policies. Manual scanning of all stored files is impractical at scale, leaving potential risks undetected.</a:t>
            </a:r>
            <a:endParaRPr lang="en-US" sz="11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14770" y="3642970"/>
            <a:ext cx="200254" cy="2670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048195" y="3571646"/>
            <a:ext cx="44961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F123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Inadequate Audit Trails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7048195" y="3857854"/>
            <a:ext cx="4457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Platforms often fail to maintain detailed records of file access and modifications. Historical logs are limited, making it impossible to answer critical compliance questions about data access.</a:t>
            </a:r>
            <a:endParaRPr lang="en-US" sz="11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33018" y="5167274"/>
            <a:ext cx="333756" cy="26700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333195" y="5095951"/>
            <a:ext cx="102111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54D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Insufficient Workflow Customization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1333195" y="5381244"/>
            <a:ext cx="101727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platforms force organizations to adapt their processes to tool constraints rather than supporting specific needs. Multi-stage approval workflows for specialized requirements are difficult or impossible to implement without significant custom development effort.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687007"/>
            <a:ext cx="111639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Project Review | Dept. of CSE, CMR Technical Campus</a:t>
            </a:r>
            <a:endParaRPr lang="en-US" sz="800" dirty="0"/>
          </a:p>
        </p:txBody>
      </p:sp>
      <p:pic>
        <p:nvPicPr>
          <p:cNvPr id="36" name="Image 7">
            <a:extLst>
              <a:ext uri="{FF2B5EF4-FFF2-40B4-BE49-F238E27FC236}">
                <a16:creationId xmlns:a16="http://schemas.microsoft.com/office/drawing/2014/main" id="{F992B50A-8C38-B75E-9BD1-7DDE43EC5CD2}"/>
              </a:ext>
            </a:extLst>
          </p:cNvPr>
          <p:cNvPicPr>
            <a:picLocks/>
          </p:cNvPicPr>
          <p:nvPr/>
        </p:nvPicPr>
        <p:blipFill rotWithShape="1"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1114569" y="-65315"/>
            <a:ext cx="1013082" cy="11622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72500" y="1429207"/>
            <a:ext cx="3333902" cy="3333902"/>
          </a:xfrm>
          <a:prstGeom prst="ellipse">
            <a:avLst/>
          </a:prstGeom>
          <a:solidFill>
            <a:srgbClr val="EF444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667805"/>
            <a:ext cx="12191695" cy="190195"/>
          </a:xfrm>
          <a:prstGeom prst="rect">
            <a:avLst/>
          </a:prstGeom>
          <a:solidFill>
            <a:srgbClr val="0F2C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952805"/>
            <a:ext cx="12191695" cy="384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71500" y="286207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75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EXISTING SYSTEM LIMITATIONS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1238098"/>
            <a:ext cx="10754258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mainstream file management solutions prioritize general access over specific organizational controls, leading to several critical limitations: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61695" y="2068373"/>
            <a:ext cx="10744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Customization: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Mainstream cloud storage platforms offer rigid workflows, forcing organizations to rely on fragile workarounds rather than adapting the system to their specific processes. 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61695" y="2811780"/>
            <a:ext cx="10744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Approval Processes: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Content review predominantly relies on manual oversight, which is inconsistent, prone to human error, and costly to scale across distributed teams. 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61695" y="3554273"/>
            <a:ext cx="10744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Audit Capabilities: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Existing systems often lack comprehensive audit trails, providing poor long-term traceability and making regulatory compliance verification difficult. 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61695" y="4297680"/>
            <a:ext cx="10744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Scalability Challenges: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Traditional systems frequently face performance degradation as content volume grows exponentially, requiring expensive infrastructure upgrades to maintain responsiveness. 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61695" y="5040173"/>
            <a:ext cx="10744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Complexity: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Seamlessly connecting file management with other organizational tools and specialized processes often requires complex custom development and maintenance. 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687007"/>
            <a:ext cx="111639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Project Review | Dept. of CSE, CMR Technical Campus</a:t>
            </a:r>
            <a:endParaRPr lang="en-US" sz="800" dirty="0"/>
          </a:p>
        </p:txBody>
      </p:sp>
      <p:pic>
        <p:nvPicPr>
          <p:cNvPr id="17" name="Image 7">
            <a:extLst>
              <a:ext uri="{FF2B5EF4-FFF2-40B4-BE49-F238E27FC236}">
                <a16:creationId xmlns:a16="http://schemas.microsoft.com/office/drawing/2014/main" id="{E578CD90-803C-08F2-40A1-24DB95A68005}"/>
              </a:ext>
            </a:extLst>
          </p:cNvPr>
          <p:cNvPicPr>
            <a:picLocks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1114569" y="-65315"/>
            <a:ext cx="1013082" cy="11622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72500" y="1429207"/>
            <a:ext cx="3333902" cy="3333902"/>
          </a:xfrm>
          <a:prstGeom prst="ellipse">
            <a:avLst/>
          </a:prstGeom>
          <a:solidFill>
            <a:srgbClr val="0F2C59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667805"/>
            <a:ext cx="12191695" cy="190195"/>
          </a:xfrm>
          <a:prstGeom prst="rect">
            <a:avLst/>
          </a:prstGeom>
          <a:solidFill>
            <a:srgbClr val="0F2C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952805"/>
            <a:ext cx="12191695" cy="384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71500" y="286207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75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PROPOSED SYSTEM OVERVIEW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1238098"/>
            <a:ext cx="10746943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combines modern serverless architecture with intelligent automation to address file management challenges: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1695" y="2062886"/>
            <a:ext cx="10746943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Guest-Based Authentication:</a:t>
            </a:r>
            <a:r>
              <a:rPr lang="en-US" sz="1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Simplifies access by eliminating password management overhead for standard users while maintaining secure role-based access control. 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61695" y="2820924"/>
            <a:ext cx="10746943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Configurable Approval Workflows:</a:t>
            </a:r>
            <a:r>
              <a:rPr lang="en-US" sz="1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Supports multi-stage approval processes with escalation capabilities, ensuring all content meets organizational standards before publication. 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61695" y="3578962"/>
            <a:ext cx="10746943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AI-Assisted Content Moderation:</a:t>
            </a:r>
            <a:r>
              <a:rPr lang="en-US" sz="1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Automatically analyzes uploaded files for policy violations, ensuring consistent application of safety standards across all content. 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61695" y="4336999"/>
            <a:ext cx="10746943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Defense-in-Depth Security:</a:t>
            </a:r>
            <a:r>
              <a:rPr lang="en-US" sz="1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Implements PostgreSQL Row Level Security (RLS) to enforce data access policies at the database layer, protecting against application-level vulnerabilities. 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61695" y="5095951"/>
            <a:ext cx="10746943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Serverless Processing:</a:t>
            </a:r>
            <a:r>
              <a:rPr lang="en-US" sz="1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Leverages Vercel Edge Functions to deliver low-latency performance and automatic scaling for users worldwide. 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687007"/>
            <a:ext cx="111639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Project Review | Dept. of CSE, CMR Technical Campus</a:t>
            </a:r>
            <a:endParaRPr lang="en-US" sz="800" dirty="0"/>
          </a:p>
        </p:txBody>
      </p:sp>
      <p:pic>
        <p:nvPicPr>
          <p:cNvPr id="17" name="Image 7">
            <a:extLst>
              <a:ext uri="{FF2B5EF4-FFF2-40B4-BE49-F238E27FC236}">
                <a16:creationId xmlns:a16="http://schemas.microsoft.com/office/drawing/2014/main" id="{5BD1A225-C206-BAFD-2EEA-9D2220EE7F5F}"/>
              </a:ext>
            </a:extLst>
          </p:cNvPr>
          <p:cNvPicPr>
            <a:picLocks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1114569" y="-65315"/>
            <a:ext cx="1013082" cy="11622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667805"/>
            <a:ext cx="12191695" cy="190195"/>
          </a:xfrm>
          <a:prstGeom prst="rect">
            <a:avLst/>
          </a:prstGeom>
          <a:solidFill>
            <a:srgbClr val="0F2C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1904695"/>
            <a:ext cx="5333695" cy="4619549"/>
          </a:xfrm>
          <a:prstGeom prst="roundRect">
            <a:avLst>
              <a:gd name="adj" fmla="val 6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86500" y="1904695"/>
            <a:ext cx="5333695" cy="4619549"/>
          </a:xfrm>
          <a:prstGeom prst="roundRect">
            <a:avLst>
              <a:gd name="adj" fmla="val 6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3" b="-3"/>
          <a:stretch/>
        </p:blipFill>
        <p:spPr>
          <a:xfrm>
            <a:off x="571500" y="1904695"/>
            <a:ext cx="5333695" cy="57150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 t="-3" b="-3"/>
          <a:stretch/>
        </p:blipFill>
        <p:spPr>
          <a:xfrm>
            <a:off x="6286500" y="1904695"/>
            <a:ext cx="5333695" cy="57150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rcRect t="-401" b="-401"/>
          <a:stretch/>
        </p:blipFill>
        <p:spPr>
          <a:xfrm>
            <a:off x="0" y="952805"/>
            <a:ext cx="12191695" cy="3840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71500" y="286207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75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OBJECTIVES OF THE PROJECT</a:t>
            </a:r>
            <a:endParaRPr lang="en-US" sz="2700" dirty="0"/>
          </a:p>
        </p:txBody>
      </p:sp>
      <p:sp>
        <p:nvSpPr>
          <p:cNvPr id="12" name="Text 7"/>
          <p:cNvSpPr txBox="1"/>
          <p:nvPr/>
        </p:nvSpPr>
        <p:spPr>
          <a:xfrm>
            <a:off x="571500" y="1238098"/>
            <a:ext cx="111255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aims to deliver a secure, scalable, and intelligent file management platform with clearly defined primary and secondary goals.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100023" y="2048256"/>
            <a:ext cx="47292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Primary Objectives </a:t>
            </a:r>
            <a:endParaRPr lang="en-US" sz="15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1695" y="2061972"/>
            <a:ext cx="190195" cy="19019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61695" y="2667305"/>
            <a:ext cx="50292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File Management:</a:t>
            </a: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Implement robust file handling enabling organizations to manage digital assets securely while maintaining strict compliance requirements.</a:t>
            </a:r>
            <a:endParaRPr lang="en-US" sz="1100" dirty="0"/>
          </a:p>
        </p:txBody>
      </p:sp>
      <p:sp>
        <p:nvSpPr>
          <p:cNvPr id="16" name="Text 10"/>
          <p:cNvSpPr txBox="1"/>
          <p:nvPr/>
        </p:nvSpPr>
        <p:spPr>
          <a:xfrm>
            <a:off x="761695" y="3424428"/>
            <a:ext cx="50292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Approval Workflows:</a:t>
            </a: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Create configurable, multi-stage approval processes with escalation mechanisms that match organizational procedures.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761695" y="4181551"/>
            <a:ext cx="50292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AI-Assisted Moderation:</a:t>
            </a: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Integrate AI analysis to automatically identify potentially problematic content, reducing manual review burden by ~60%.</a:t>
            </a:r>
            <a:endParaRPr lang="en-US" sz="1100" dirty="0"/>
          </a:p>
        </p:txBody>
      </p:sp>
      <p:sp>
        <p:nvSpPr>
          <p:cNvPr id="18" name="Text 12"/>
          <p:cNvSpPr txBox="1"/>
          <p:nvPr/>
        </p:nvSpPr>
        <p:spPr>
          <a:xfrm>
            <a:off x="761695" y="4938674"/>
            <a:ext cx="50292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Security:</a:t>
            </a: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Enforce defense-in-depth strategies through Row Level Security (RLS) and encrypted storage mechanisms.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761695" y="5695798"/>
            <a:ext cx="50292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Intuitive Interface:</a:t>
            </a: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Develop user-friendly interfaces that minimize training requirements and accelerate adoption.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6843370" y="2048256"/>
            <a:ext cx="47009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Secondary Objectives </a:t>
            </a:r>
            <a:endParaRPr lang="en-US" sz="15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6476695" y="2061972"/>
            <a:ext cx="219456" cy="19019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76695" y="2667305"/>
            <a:ext cx="50292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Collaboration:</a:t>
            </a: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Enhance team productivity through instant notifications and real-time status updates on approvals.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6476695" y="3209544"/>
            <a:ext cx="50292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Auditing:</a:t>
            </a: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Maintain detailed, immutable audit trails documenting all file access and modification activities for compliance.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6476695" y="3967582"/>
            <a:ext cx="50292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Responsiveness:</a:t>
            </a: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Ensure seamless access across diverse devices (smartphones, tablets, desktops) through responsive design.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6476695" y="4724705"/>
            <a:ext cx="50292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Reliability:</a:t>
            </a: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Establish performance baselines ensuring rapid response times under load with robust error handling.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6476695" y="5266944"/>
            <a:ext cx="50292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Scalability:</a:t>
            </a: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Support organizational growth without infrastructure changes through serverless architecture.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" y="6705295"/>
            <a:ext cx="111639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Project Review | Dept. of CSE, CMR Technical Campus</a:t>
            </a:r>
            <a:endParaRPr lang="en-US" sz="800" dirty="0"/>
          </a:p>
        </p:txBody>
      </p:sp>
      <p:pic>
        <p:nvPicPr>
          <p:cNvPr id="29" name="Image 7">
            <a:extLst>
              <a:ext uri="{FF2B5EF4-FFF2-40B4-BE49-F238E27FC236}">
                <a16:creationId xmlns:a16="http://schemas.microsoft.com/office/drawing/2014/main" id="{0FB7C31C-7D0E-D41B-FB10-652243FB8F3C}"/>
              </a:ext>
            </a:extLst>
          </p:cNvPr>
          <p:cNvPicPr>
            <a:picLocks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1114569" y="-65315"/>
            <a:ext cx="1013082" cy="11622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96098" y="1714500"/>
            <a:ext cx="3810305" cy="3810305"/>
          </a:xfrm>
          <a:prstGeom prst="ellipse">
            <a:avLst/>
          </a:prstGeom>
          <a:solidFill>
            <a:srgbClr val="0F2C59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72707"/>
            <a:ext cx="12191695" cy="286207"/>
          </a:xfrm>
          <a:prstGeom prst="rect">
            <a:avLst/>
          </a:prstGeom>
          <a:solidFill>
            <a:srgbClr val="0F2C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952805"/>
            <a:ext cx="12191695" cy="384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71500" y="286207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75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LITERATURE SURVEY SUMMARY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952805" y="1524305"/>
            <a:ext cx="1036563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Evolution of File Management:</a:t>
            </a:r>
            <a:r>
              <a:rPr lang="en-US" sz="1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Shift from traditional on-premise storage to cloud-based collaboration, and now to intelligent serverless, AI-driven systems. 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52805" y="2381098"/>
            <a:ext cx="1036563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of Cloud Platforms:</a:t>
            </a:r>
            <a:r>
              <a:rPr lang="en-US" sz="1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Existing solutions (Google Drive, Dropbox, OneDrive) offer excellent UX but lack customizable policy enforcement and specialized approval workflows. 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52805" y="3238805"/>
            <a:ext cx="10365638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Moderation Research:</a:t>
            </a:r>
            <a:r>
              <a:rPr lang="en-US" sz="1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Manual review is costly and inconsistent (Chen et al., 2023). Fusion AI models combining visual and contextual analysis significantly improve accuracy and reduce false positives (Li et al., 2023). 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952805" y="4410151"/>
            <a:ext cx="10365638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Paradigms:</a:t>
            </a:r>
            <a:r>
              <a:rPr lang="en-US" sz="1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Row Level Security (RLS) is proven to effectively enforce least-privilege access control directly at the database layer, preventing application-level bypasses (Wang et al., 2022). 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5581498"/>
            <a:ext cx="10365638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Implication:</a:t>
            </a:r>
            <a:r>
              <a:rPr lang="en-US" sz="1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modern, compliant platform must integrate customizable workflows, AI-assisted moderation, and rigorous database-level security to address current organizational challenges. 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638544"/>
            <a:ext cx="111639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Project Review | Dept. of CSE, CMR Technical Campus</a:t>
            </a:r>
            <a:endParaRPr lang="en-US" sz="800" dirty="0"/>
          </a:p>
        </p:txBody>
      </p:sp>
      <p:pic>
        <p:nvPicPr>
          <p:cNvPr id="15" name="Image 7">
            <a:extLst>
              <a:ext uri="{FF2B5EF4-FFF2-40B4-BE49-F238E27FC236}">
                <a16:creationId xmlns:a16="http://schemas.microsoft.com/office/drawing/2014/main" id="{5781ACFA-F0F9-F0A6-7192-9FC577E2E62E}"/>
              </a:ext>
            </a:extLst>
          </p:cNvPr>
          <p:cNvPicPr>
            <a:picLocks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1114569" y="-65315"/>
            <a:ext cx="1013082" cy="11622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1305" y="1333195"/>
            <a:ext cx="11430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667805"/>
            <a:ext cx="12191695" cy="190195"/>
          </a:xfrm>
          <a:prstGeom prst="rect">
            <a:avLst/>
          </a:prstGeom>
          <a:solidFill>
            <a:srgbClr val="0F2C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" y="1714500"/>
            <a:ext cx="3086100" cy="4419295"/>
          </a:xfrm>
          <a:prstGeom prst="roundRect">
            <a:avLst>
              <a:gd name="adj" fmla="val 2195"/>
            </a:avLst>
          </a:prstGeom>
          <a:solidFill>
            <a:srgbClr val="F0F9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1714500"/>
            <a:ext cx="3086100" cy="4419295"/>
          </a:xfrm>
          <a:prstGeom prst="roundRect">
            <a:avLst>
              <a:gd name="adj" fmla="val 2195"/>
            </a:avLst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72500" y="1714500"/>
            <a:ext cx="3086100" cy="4419295"/>
          </a:xfrm>
          <a:prstGeom prst="roundRect">
            <a:avLst>
              <a:gd name="adj" fmla="val 2195"/>
            </a:avLst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-384" b="-384"/>
          <a:stretch/>
        </p:blipFill>
        <p:spPr>
          <a:xfrm>
            <a:off x="3619195" y="3810305"/>
            <a:ext cx="952805" cy="38405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76902" y="3748126"/>
            <a:ext cx="95098" cy="190195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rcRect t="-384" b="-384"/>
          <a:stretch/>
        </p:blipFill>
        <p:spPr>
          <a:xfrm>
            <a:off x="7619695" y="3810305"/>
            <a:ext cx="952805" cy="38405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77402" y="3748126"/>
            <a:ext cx="95098" cy="190195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0" y="952805"/>
            <a:ext cx="12191695" cy="38405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857707" y="2000707"/>
            <a:ext cx="2495398" cy="780898"/>
          </a:xfrm>
          <a:prstGeom prst="roundRect">
            <a:avLst>
              <a:gd name="adj" fmla="val 22848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857707" y="3047695"/>
            <a:ext cx="2495398" cy="1352398"/>
          </a:xfrm>
          <a:prstGeom prst="roundRect">
            <a:avLst>
              <a:gd name="adj" fmla="val 7618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857707" y="4667098"/>
            <a:ext cx="2495398" cy="780898"/>
          </a:xfrm>
          <a:prstGeom prst="roundRect">
            <a:avLst>
              <a:gd name="adj" fmla="val 22848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4858207" y="2000707"/>
            <a:ext cx="2495398" cy="972007"/>
          </a:xfrm>
          <a:prstGeom prst="roundRect">
            <a:avLst>
              <a:gd name="adj" fmla="val 14757"/>
            </a:avLst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4858207" y="3143707"/>
            <a:ext cx="2495398" cy="972007"/>
          </a:xfrm>
          <a:prstGeom prst="roundRect">
            <a:avLst>
              <a:gd name="adj" fmla="val 14757"/>
            </a:avLst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4858207" y="4286707"/>
            <a:ext cx="2495398" cy="972007"/>
          </a:xfrm>
          <a:prstGeom prst="roundRect">
            <a:avLst>
              <a:gd name="adj" fmla="val 14757"/>
            </a:avLst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8858707" y="2000707"/>
            <a:ext cx="2495398" cy="1162202"/>
          </a:xfrm>
          <a:prstGeom prst="roundRect">
            <a:avLst>
              <a:gd name="adj" fmla="val 10318"/>
            </a:avLst>
          </a:prstGeom>
          <a:solidFill>
            <a:srgbClr val="FFFFFF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8858707" y="3333902"/>
            <a:ext cx="2495398" cy="972007"/>
          </a:xfrm>
          <a:prstGeom prst="roundRect">
            <a:avLst>
              <a:gd name="adj" fmla="val 14757"/>
            </a:avLst>
          </a:prstGeom>
          <a:solidFill>
            <a:srgbClr val="FFFFFF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8858707" y="4476902"/>
            <a:ext cx="2495398" cy="972007"/>
          </a:xfrm>
          <a:prstGeom prst="roundRect">
            <a:avLst>
              <a:gd name="adj" fmla="val 14757"/>
            </a:avLst>
          </a:prstGeom>
          <a:solidFill>
            <a:srgbClr val="FFFFFF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571500" y="286207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75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ARCHITECTURE OVERVIEW</a:t>
            </a:r>
            <a:endParaRPr lang="en-US" sz="2700" dirty="0"/>
          </a:p>
        </p:txBody>
      </p:sp>
      <p:sp>
        <p:nvSpPr>
          <p:cNvPr id="25" name="Text 18"/>
          <p:cNvSpPr txBox="1"/>
          <p:nvPr/>
        </p:nvSpPr>
        <p:spPr>
          <a:xfrm>
            <a:off x="514807" y="1429207"/>
            <a:ext cx="3162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Layer</a:t>
            </a:r>
            <a:endParaRPr lang="en-US" sz="13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rcRect l="-50" r="-50"/>
          <a:stretch/>
        </p:blipFill>
        <p:spPr>
          <a:xfrm>
            <a:off x="1047902" y="2219249"/>
            <a:ext cx="342900" cy="30449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524305" y="2143354"/>
            <a:ext cx="1791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Browser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1524305" y="2333549"/>
            <a:ext cx="1791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Chrome, Firefox, Safari</a:t>
            </a:r>
            <a:endParaRPr lang="en-US" sz="9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47902" y="3267151"/>
            <a:ext cx="304495" cy="304495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524305" y="3191256"/>
            <a:ext cx="1791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Application</a:t>
            </a:r>
            <a:endParaRPr lang="en-US" sz="1200" dirty="0"/>
          </a:p>
        </p:txBody>
      </p:sp>
      <p:sp>
        <p:nvSpPr>
          <p:cNvPr id="31" name="Text 22"/>
          <p:cNvSpPr txBox="1"/>
          <p:nvPr/>
        </p:nvSpPr>
        <p:spPr>
          <a:xfrm>
            <a:off x="1666951" y="3429000"/>
            <a:ext cx="1648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18.3.1 + TS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1666951" y="3571646"/>
            <a:ext cx="1648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Vite 5.4+ Build</a:t>
            </a:r>
            <a:endParaRPr lang="en-US" sz="900" dirty="0"/>
          </a:p>
        </p:txBody>
      </p:sp>
      <p:sp>
        <p:nvSpPr>
          <p:cNvPr id="33" name="Text 24"/>
          <p:cNvSpPr txBox="1"/>
          <p:nvPr/>
        </p:nvSpPr>
        <p:spPr>
          <a:xfrm>
            <a:off x="1666951" y="3715207"/>
            <a:ext cx="1648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shadcn/ui Components</a:t>
            </a:r>
            <a:endParaRPr lang="en-US" sz="900" dirty="0"/>
          </a:p>
        </p:txBody>
      </p:sp>
      <p:sp>
        <p:nvSpPr>
          <p:cNvPr id="34" name="Text 25"/>
          <p:cNvSpPr txBox="1"/>
          <p:nvPr/>
        </p:nvSpPr>
        <p:spPr>
          <a:xfrm>
            <a:off x="1666951" y="3857854"/>
            <a:ext cx="1648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TanStack Query</a:t>
            </a:r>
            <a:endParaRPr lang="en-US" sz="9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8"/>
          <a:srcRect l="-50" r="-50"/>
          <a:stretch/>
        </p:blipFill>
        <p:spPr>
          <a:xfrm>
            <a:off x="1047902" y="4886554"/>
            <a:ext cx="342900" cy="304495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1524305" y="4809744"/>
            <a:ext cx="1791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State</a:t>
            </a:r>
            <a:endParaRPr lang="en-US" sz="1200" dirty="0"/>
          </a:p>
        </p:txBody>
      </p:sp>
      <p:sp>
        <p:nvSpPr>
          <p:cNvPr id="37" name="Text 27"/>
          <p:cNvSpPr txBox="1"/>
          <p:nvPr/>
        </p:nvSpPr>
        <p:spPr>
          <a:xfrm>
            <a:off x="1524305" y="5000854"/>
            <a:ext cx="1791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API / Storage</a:t>
            </a:r>
            <a:endParaRPr lang="en-US" sz="900" dirty="0"/>
          </a:p>
        </p:txBody>
      </p:sp>
      <p:sp>
        <p:nvSpPr>
          <p:cNvPr id="38" name="Text 28"/>
          <p:cNvSpPr txBox="1"/>
          <p:nvPr/>
        </p:nvSpPr>
        <p:spPr>
          <a:xfrm>
            <a:off x="3676802" y="3571646"/>
            <a:ext cx="8385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/ WSS</a:t>
            </a:r>
            <a:endParaRPr lang="en-US" sz="800" dirty="0"/>
          </a:p>
        </p:txBody>
      </p:sp>
      <p:sp>
        <p:nvSpPr>
          <p:cNvPr id="39" name="Text 29"/>
          <p:cNvSpPr txBox="1"/>
          <p:nvPr/>
        </p:nvSpPr>
        <p:spPr>
          <a:xfrm>
            <a:off x="4515307" y="1429207"/>
            <a:ext cx="3162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 Layer (Vercel)</a:t>
            </a:r>
            <a:endParaRPr lang="en-US" sz="130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9"/>
          <a:srcRect l="-107" r="-107"/>
          <a:stretch/>
        </p:blipFill>
        <p:spPr>
          <a:xfrm>
            <a:off x="5048402" y="2314346"/>
            <a:ext cx="267005" cy="304495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5524805" y="2143354"/>
            <a:ext cx="1791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Routes</a:t>
            </a:r>
            <a:endParaRPr lang="en-US" sz="1200" dirty="0"/>
          </a:p>
        </p:txBody>
      </p:sp>
      <p:sp>
        <p:nvSpPr>
          <p:cNvPr id="42" name="Text 31"/>
          <p:cNvSpPr txBox="1"/>
          <p:nvPr/>
        </p:nvSpPr>
        <p:spPr>
          <a:xfrm>
            <a:off x="5524805" y="2381098"/>
            <a:ext cx="178308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Serverless Edge Functions handling requests</a:t>
            </a:r>
            <a:endParaRPr lang="en-US" sz="900" dirty="0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0"/>
          <a:srcRect l="-90" r="-90"/>
          <a:stretch/>
        </p:blipFill>
        <p:spPr>
          <a:xfrm>
            <a:off x="5048402" y="3457346"/>
            <a:ext cx="381305" cy="304495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5524805" y="3286354"/>
            <a:ext cx="1791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Logic</a:t>
            </a:r>
            <a:endParaRPr lang="en-US" sz="1200" dirty="0"/>
          </a:p>
        </p:txBody>
      </p:sp>
      <p:sp>
        <p:nvSpPr>
          <p:cNvPr id="45" name="Text 33"/>
          <p:cNvSpPr txBox="1"/>
          <p:nvPr/>
        </p:nvSpPr>
        <p:spPr>
          <a:xfrm>
            <a:off x="5524805" y="3524098"/>
            <a:ext cx="178308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Authentication, Validation, Approval Workflows</a:t>
            </a:r>
            <a:endParaRPr lang="en-US" sz="900" dirty="0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048402" y="4600346"/>
            <a:ext cx="304495" cy="304495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5524805" y="4429354"/>
            <a:ext cx="1791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Moderation</a:t>
            </a:r>
            <a:endParaRPr lang="en-US" sz="1200" dirty="0"/>
          </a:p>
        </p:txBody>
      </p:sp>
      <p:sp>
        <p:nvSpPr>
          <p:cNvPr id="48" name="Text 35"/>
          <p:cNvSpPr txBox="1"/>
          <p:nvPr/>
        </p:nvSpPr>
        <p:spPr>
          <a:xfrm>
            <a:off x="5524805" y="4667098"/>
            <a:ext cx="178308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Safety Analysis Service</a:t>
            </a:r>
            <a:endParaRPr lang="en-US" sz="900" dirty="0"/>
          </a:p>
        </p:txBody>
      </p:sp>
      <p:sp>
        <p:nvSpPr>
          <p:cNvPr id="49" name="Text 36"/>
          <p:cNvSpPr txBox="1"/>
          <p:nvPr/>
        </p:nvSpPr>
        <p:spPr>
          <a:xfrm>
            <a:off x="7659014" y="3571646"/>
            <a:ext cx="87508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/ Storage</a:t>
            </a:r>
            <a:endParaRPr lang="en-US" sz="800" dirty="0"/>
          </a:p>
        </p:txBody>
      </p:sp>
      <p:sp>
        <p:nvSpPr>
          <p:cNvPr id="50" name="Text 37"/>
          <p:cNvSpPr txBox="1"/>
          <p:nvPr/>
        </p:nvSpPr>
        <p:spPr>
          <a:xfrm>
            <a:off x="8515807" y="1429207"/>
            <a:ext cx="3162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Layer (Supabase)</a:t>
            </a:r>
            <a:endParaRPr lang="en-US" sz="1300" dirty="0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2"/>
          <a:srcRect l="-107" r="-107"/>
          <a:stretch/>
        </p:blipFill>
        <p:spPr>
          <a:xfrm>
            <a:off x="9048902" y="2409444"/>
            <a:ext cx="267005" cy="304495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9525305" y="2143354"/>
            <a:ext cx="18644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2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Database</a:t>
            </a:r>
            <a:endParaRPr lang="en-US" sz="1200" dirty="0"/>
          </a:p>
        </p:txBody>
      </p:sp>
      <p:sp>
        <p:nvSpPr>
          <p:cNvPr id="53" name="Text 39"/>
          <p:cNvSpPr txBox="1"/>
          <p:nvPr/>
        </p:nvSpPr>
        <p:spPr>
          <a:xfrm>
            <a:off x="9667951" y="2381098"/>
            <a:ext cx="1648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&amp; Metadata</a:t>
            </a:r>
            <a:endParaRPr lang="en-US" sz="900" dirty="0"/>
          </a:p>
        </p:txBody>
      </p:sp>
      <p:sp>
        <p:nvSpPr>
          <p:cNvPr id="54" name="Text 40"/>
          <p:cNvSpPr txBox="1"/>
          <p:nvPr/>
        </p:nvSpPr>
        <p:spPr>
          <a:xfrm>
            <a:off x="9667951" y="2523744"/>
            <a:ext cx="1648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Logs</a:t>
            </a:r>
            <a:endParaRPr lang="en-US" sz="900" dirty="0"/>
          </a:p>
        </p:txBody>
      </p:sp>
      <p:sp>
        <p:nvSpPr>
          <p:cNvPr id="55" name="Text 41"/>
          <p:cNvSpPr txBox="1"/>
          <p:nvPr/>
        </p:nvSpPr>
        <p:spPr>
          <a:xfrm>
            <a:off x="9667951" y="2667305"/>
            <a:ext cx="1648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RLS Policies</a:t>
            </a:r>
            <a:endParaRPr lang="en-US" sz="900" dirty="0"/>
          </a:p>
        </p:txBody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048902" y="3648456"/>
            <a:ext cx="304495" cy="304495"/>
          </a:xfrm>
          <a:prstGeom prst="rect">
            <a:avLst/>
          </a:prstGeom>
        </p:spPr>
      </p:pic>
      <p:sp>
        <p:nvSpPr>
          <p:cNvPr id="57" name="Text 42"/>
          <p:cNvSpPr txBox="1"/>
          <p:nvPr/>
        </p:nvSpPr>
        <p:spPr>
          <a:xfrm>
            <a:off x="9525305" y="3476549"/>
            <a:ext cx="1791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2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Storage</a:t>
            </a:r>
            <a:endParaRPr lang="en-US" sz="1200" dirty="0"/>
          </a:p>
        </p:txBody>
      </p:sp>
      <p:sp>
        <p:nvSpPr>
          <p:cNvPr id="58" name="Text 43"/>
          <p:cNvSpPr txBox="1"/>
          <p:nvPr/>
        </p:nvSpPr>
        <p:spPr>
          <a:xfrm>
            <a:off x="9525305" y="3715207"/>
            <a:ext cx="178308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Encrypted Object Buckets for Documents</a:t>
            </a:r>
            <a:endParaRPr lang="en-US" sz="900" dirty="0"/>
          </a:p>
        </p:txBody>
      </p:sp>
      <p:pic>
        <p:nvPicPr>
          <p:cNvPr id="59" name="Image 13" descr="preencoded.png"/>
          <p:cNvPicPr>
            <a:picLocks noChangeAspect="1"/>
          </p:cNvPicPr>
          <p:nvPr/>
        </p:nvPicPr>
        <p:blipFill>
          <a:blip r:embed="rId14"/>
          <a:srcRect l="-107" r="-107"/>
          <a:stretch/>
        </p:blipFill>
        <p:spPr>
          <a:xfrm>
            <a:off x="9048902" y="4791456"/>
            <a:ext cx="267005" cy="304495"/>
          </a:xfrm>
          <a:prstGeom prst="rect">
            <a:avLst/>
          </a:prstGeom>
        </p:spPr>
      </p:pic>
      <p:sp>
        <p:nvSpPr>
          <p:cNvPr id="60" name="Text 44"/>
          <p:cNvSpPr txBox="1"/>
          <p:nvPr/>
        </p:nvSpPr>
        <p:spPr>
          <a:xfrm>
            <a:off x="9525305" y="4619549"/>
            <a:ext cx="1791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2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Engine</a:t>
            </a:r>
            <a:endParaRPr lang="en-US" sz="1200" dirty="0"/>
          </a:p>
        </p:txBody>
      </p:sp>
      <p:sp>
        <p:nvSpPr>
          <p:cNvPr id="61" name="Text 45"/>
          <p:cNvSpPr txBox="1"/>
          <p:nvPr/>
        </p:nvSpPr>
        <p:spPr>
          <a:xfrm>
            <a:off x="9525305" y="4858207"/>
            <a:ext cx="178308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WebSocket Subscriptions for Live Updates</a:t>
            </a:r>
            <a:endParaRPr lang="en-US" sz="900" dirty="0"/>
          </a:p>
        </p:txBody>
      </p:sp>
      <p:sp>
        <p:nvSpPr>
          <p:cNvPr id="62" name="Text 46"/>
          <p:cNvSpPr txBox="1"/>
          <p:nvPr/>
        </p:nvSpPr>
        <p:spPr>
          <a:xfrm>
            <a:off x="457200" y="6687007"/>
            <a:ext cx="111639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Project Review | Dept. of CSE, CMR Technical Campus</a:t>
            </a:r>
            <a:endParaRPr lang="en-US" sz="800" dirty="0"/>
          </a:p>
        </p:txBody>
      </p:sp>
      <p:pic>
        <p:nvPicPr>
          <p:cNvPr id="64" name="Image 7">
            <a:extLst>
              <a:ext uri="{FF2B5EF4-FFF2-40B4-BE49-F238E27FC236}">
                <a16:creationId xmlns:a16="http://schemas.microsoft.com/office/drawing/2014/main" id="{89A0D3AE-F07C-A356-DD36-9F81DE63A9D5}"/>
              </a:ext>
            </a:extLst>
          </p:cNvPr>
          <p:cNvPicPr>
            <a:picLocks/>
          </p:cNvPicPr>
          <p:nvPr/>
        </p:nvPicPr>
        <p:blipFill rotWithShape="1"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1114569" y="-65315"/>
            <a:ext cx="1013082" cy="11622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667805"/>
            <a:ext cx="12191695" cy="190195"/>
          </a:xfrm>
          <a:prstGeom prst="rect">
            <a:avLst/>
          </a:prstGeom>
          <a:solidFill>
            <a:srgbClr val="0F2C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1714500"/>
            <a:ext cx="3524098" cy="4762195"/>
          </a:xfrm>
          <a:prstGeom prst="roundRect">
            <a:avLst>
              <a:gd name="adj" fmla="val 11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34256" y="1714500"/>
            <a:ext cx="3524098" cy="4762195"/>
          </a:xfrm>
          <a:prstGeom prst="roundRect">
            <a:avLst>
              <a:gd name="adj" fmla="val 11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96098" y="1714500"/>
            <a:ext cx="3524098" cy="4762195"/>
          </a:xfrm>
          <a:prstGeom prst="roundRect">
            <a:avLst>
              <a:gd name="adj" fmla="val 11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18" b="-18"/>
          <a:stretch/>
        </p:blipFill>
        <p:spPr>
          <a:xfrm>
            <a:off x="571500" y="1714500"/>
            <a:ext cx="3524098" cy="476402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rcRect t="-18" b="-18"/>
          <a:stretch/>
        </p:blipFill>
        <p:spPr>
          <a:xfrm>
            <a:off x="4334256" y="1714500"/>
            <a:ext cx="3524098" cy="476402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rcRect t="-18" b="-18"/>
          <a:stretch/>
        </p:blipFill>
        <p:spPr>
          <a:xfrm>
            <a:off x="8096098" y="1714500"/>
            <a:ext cx="3524098" cy="476402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 t="-401" b="-401"/>
          <a:stretch/>
        </p:blipFill>
        <p:spPr>
          <a:xfrm>
            <a:off x="0" y="952805"/>
            <a:ext cx="12191695" cy="384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71500" y="286207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75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 LAYERS</a:t>
            </a:r>
            <a:endParaRPr lang="en-US" sz="2700" dirty="0"/>
          </a:p>
        </p:txBody>
      </p:sp>
      <p:sp>
        <p:nvSpPr>
          <p:cNvPr id="14" name="Text 8"/>
          <p:cNvSpPr txBox="1"/>
          <p:nvPr/>
        </p:nvSpPr>
        <p:spPr>
          <a:xfrm>
            <a:off x="571500" y="1143000"/>
            <a:ext cx="117354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employs a modular, serverless architecture across three distinct layers to ensure scalability, security, and performance.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1094537" y="1857146"/>
            <a:ext cx="292516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Frontend Layer 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rcRect t="-842" b="-842"/>
          <a:stretch/>
        </p:blipFill>
        <p:spPr>
          <a:xfrm>
            <a:off x="761695" y="1869034"/>
            <a:ext cx="190195" cy="171907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61695" y="2333549"/>
            <a:ext cx="321960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18.3.1 + TypeScript:</a:t>
            </a: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Type-safe, component-based UI development ensuring robustness.</a:t>
            </a:r>
            <a:endParaRPr lang="en-US" sz="1000" dirty="0"/>
          </a:p>
        </p:txBody>
      </p:sp>
      <p:sp>
        <p:nvSpPr>
          <p:cNvPr id="18" name="Text 11"/>
          <p:cNvSpPr txBox="1"/>
          <p:nvPr/>
        </p:nvSpPr>
        <p:spPr>
          <a:xfrm>
            <a:off x="761695" y="3010205"/>
            <a:ext cx="32196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Vite 5.4+:</a:t>
            </a: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Optimized build tool for fast development and production performance.</a:t>
            </a:r>
            <a:endParaRPr lang="en-US" sz="1000" dirty="0"/>
          </a:p>
        </p:txBody>
      </p:sp>
      <p:sp>
        <p:nvSpPr>
          <p:cNvPr id="19" name="Text 12"/>
          <p:cNvSpPr txBox="1"/>
          <p:nvPr/>
        </p:nvSpPr>
        <p:spPr>
          <a:xfrm>
            <a:off x="761695" y="3486607"/>
            <a:ext cx="32196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Tailwind CSS + shadcn/ui:</a:t>
            </a: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Consistent, accessible styling with utility-first approach.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761695" y="3962095"/>
            <a:ext cx="32196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TanStack Query:</a:t>
            </a: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Efficient server state management with automatic caching.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761695" y="4438498"/>
            <a:ext cx="32196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 Design:</a:t>
            </a: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Adapts to desktop, tablet, and mobile devices seamlessly.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4885639" y="1857146"/>
            <a:ext cx="289681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Backend Layer </a:t>
            </a:r>
            <a:endParaRPr lang="en-US" sz="13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rcRect l="-1064" r="-1064"/>
          <a:stretch/>
        </p:blipFill>
        <p:spPr>
          <a:xfrm>
            <a:off x="4524451" y="1869034"/>
            <a:ext cx="219456" cy="171907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4524451" y="2333549"/>
            <a:ext cx="32196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Edge Functions:</a:t>
            </a: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Serverless API routes executing business logic globally.</a:t>
            </a:r>
            <a:endParaRPr lang="en-US" sz="1000" dirty="0"/>
          </a:p>
        </p:txBody>
      </p:sp>
      <p:sp>
        <p:nvSpPr>
          <p:cNvPr id="25" name="Text 17"/>
          <p:cNvSpPr txBox="1"/>
          <p:nvPr/>
        </p:nvSpPr>
        <p:spPr>
          <a:xfrm>
            <a:off x="4524451" y="2809951"/>
            <a:ext cx="32196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Integration:</a:t>
            </a: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On-demand serverless functions for content moderation analysis.</a:t>
            </a:r>
            <a:endParaRPr lang="en-US" sz="1000" dirty="0"/>
          </a:p>
        </p:txBody>
      </p:sp>
      <p:sp>
        <p:nvSpPr>
          <p:cNvPr id="26" name="Text 18"/>
          <p:cNvSpPr txBox="1"/>
          <p:nvPr/>
        </p:nvSpPr>
        <p:spPr>
          <a:xfrm>
            <a:off x="4524451" y="3286354"/>
            <a:ext cx="32196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Middleware:</a:t>
            </a: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Validates authentication before processing requests.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4524451" y="3762756"/>
            <a:ext cx="32196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Scalability:</a:t>
            </a: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Auto-scaling based on demand without infrastructure management.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4524451" y="4238244"/>
            <a:ext cx="32196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Latency:</a:t>
            </a: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Global distribution ensures fast response times worldwide.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8581644" y="1857146"/>
            <a:ext cx="29635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Data Layer </a:t>
            </a:r>
            <a:endParaRPr lang="en-US" sz="13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rcRect l="-760" r="-760"/>
          <a:stretch/>
        </p:blipFill>
        <p:spPr>
          <a:xfrm>
            <a:off x="8287207" y="1869034"/>
            <a:ext cx="152705" cy="171907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8287207" y="2333549"/>
            <a:ext cx="32196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 PostgreSQL:</a:t>
            </a: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Managed database with 99.99% uptime and auto-backups.</a:t>
            </a:r>
            <a:endParaRPr lang="en-US" sz="1000" dirty="0"/>
          </a:p>
        </p:txBody>
      </p:sp>
      <p:sp>
        <p:nvSpPr>
          <p:cNvPr id="32" name="Text 23"/>
          <p:cNvSpPr txBox="1"/>
          <p:nvPr/>
        </p:nvSpPr>
        <p:spPr>
          <a:xfrm>
            <a:off x="8287207" y="2809951"/>
            <a:ext cx="32196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 Level Security (RLS):</a:t>
            </a: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Fine-grained access control enforced at database level.</a:t>
            </a:r>
            <a:endParaRPr lang="en-US" sz="1000" dirty="0"/>
          </a:p>
        </p:txBody>
      </p:sp>
      <p:sp>
        <p:nvSpPr>
          <p:cNvPr id="33" name="Text 24"/>
          <p:cNvSpPr txBox="1"/>
          <p:nvPr/>
        </p:nvSpPr>
        <p:spPr>
          <a:xfrm>
            <a:off x="8287207" y="3286354"/>
            <a:ext cx="32196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Subscriptions:</a:t>
            </a: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WebSocket connections for instant update notifications.</a:t>
            </a:r>
            <a:endParaRPr lang="en-US" sz="1000" dirty="0"/>
          </a:p>
        </p:txBody>
      </p:sp>
      <p:sp>
        <p:nvSpPr>
          <p:cNvPr id="34" name="Text 25"/>
          <p:cNvSpPr txBox="1"/>
          <p:nvPr/>
        </p:nvSpPr>
        <p:spPr>
          <a:xfrm>
            <a:off x="8287207" y="3762756"/>
            <a:ext cx="32196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Encrypted Storage:</a:t>
            </a: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Secure file storage in buckets with metadata indexing.</a:t>
            </a:r>
            <a:endParaRPr lang="en-US" sz="1000" dirty="0"/>
          </a:p>
        </p:txBody>
      </p:sp>
      <p:sp>
        <p:nvSpPr>
          <p:cNvPr id="35" name="Text 26"/>
          <p:cNvSpPr txBox="1"/>
          <p:nvPr/>
        </p:nvSpPr>
        <p:spPr>
          <a:xfrm>
            <a:off x="8287207" y="4238244"/>
            <a:ext cx="32196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Defense-in-Depth:</a:t>
            </a: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Security persists even if application layer is compromised.</a:t>
            </a:r>
            <a:endParaRPr lang="en-US" sz="1000" dirty="0"/>
          </a:p>
        </p:txBody>
      </p:sp>
      <p:sp>
        <p:nvSpPr>
          <p:cNvPr id="36" name="Text 27"/>
          <p:cNvSpPr txBox="1"/>
          <p:nvPr/>
        </p:nvSpPr>
        <p:spPr>
          <a:xfrm>
            <a:off x="457200" y="6687007"/>
            <a:ext cx="111639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Project Review | Dept. of CSE, CMR Technical Campus</a:t>
            </a:r>
            <a:endParaRPr lang="en-US" sz="800" dirty="0"/>
          </a:p>
        </p:txBody>
      </p:sp>
      <p:pic>
        <p:nvPicPr>
          <p:cNvPr id="38" name="Image 7">
            <a:extLst>
              <a:ext uri="{FF2B5EF4-FFF2-40B4-BE49-F238E27FC236}">
                <a16:creationId xmlns:a16="http://schemas.microsoft.com/office/drawing/2014/main" id="{65F28A7A-32E0-EF60-C08A-196F9F6102E7}"/>
              </a:ext>
            </a:extLst>
          </p:cNvPr>
          <p:cNvPicPr>
            <a:picLocks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1114569" y="-65315"/>
            <a:ext cx="1013082" cy="11622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667805"/>
            <a:ext cx="12191695" cy="190195"/>
          </a:xfrm>
          <a:prstGeom prst="rect">
            <a:avLst/>
          </a:prstGeom>
          <a:solidFill>
            <a:srgbClr val="0F2C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6598" y="1904695"/>
            <a:ext cx="1561795" cy="800100"/>
          </a:xfrm>
          <a:prstGeom prst="roundRect">
            <a:avLst>
              <a:gd name="adj" fmla="val 10884"/>
            </a:avLst>
          </a:prstGeom>
          <a:solidFill>
            <a:srgbClr val="F1F5F9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6598" y="4762195"/>
            <a:ext cx="1561795" cy="800100"/>
          </a:xfrm>
          <a:prstGeom prst="roundRect">
            <a:avLst>
              <a:gd name="adj" fmla="val 10884"/>
            </a:avLst>
          </a:prstGeom>
          <a:solidFill>
            <a:srgbClr val="F1F5F9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38805" y="1714500"/>
            <a:ext cx="2324405" cy="990295"/>
          </a:xfrm>
          <a:prstGeom prst="roundRect">
            <a:avLst>
              <a:gd name="adj" fmla="val 21308"/>
            </a:avLst>
          </a:prstGeom>
          <a:solidFill>
            <a:srgbClr val="E0F2FE"/>
          </a:solidFill>
          <a:ln w="25400">
            <a:solidFill>
              <a:srgbClr val="0284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05195" y="1714500"/>
            <a:ext cx="2324405" cy="990295"/>
          </a:xfrm>
          <a:prstGeom prst="roundRect">
            <a:avLst>
              <a:gd name="adj" fmla="val 21308"/>
            </a:avLst>
          </a:prstGeom>
          <a:solidFill>
            <a:srgbClr val="F3E8FF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3238805"/>
            <a:ext cx="2324405" cy="990295"/>
          </a:xfrm>
          <a:prstGeom prst="roundRect">
            <a:avLst>
              <a:gd name="adj" fmla="val 21308"/>
            </a:avLst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4762195"/>
            <a:ext cx="2324405" cy="990295"/>
          </a:xfrm>
          <a:prstGeom prst="roundRect">
            <a:avLst>
              <a:gd name="adj" fmla="val 21308"/>
            </a:avLst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48902" y="1714500"/>
            <a:ext cx="2381098" cy="609905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48902" y="3238805"/>
            <a:ext cx="2381098" cy="609905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48902" y="4762195"/>
            <a:ext cx="2381098" cy="609905"/>
          </a:xfrm>
          <a:prstGeom prst="rect">
            <a:avLst/>
          </a:prstGeom>
          <a:solidFill>
            <a:srgbClr val="FFFFFF"/>
          </a:solidFill>
          <a:ln w="25400">
            <a:solidFill>
              <a:srgbClr val="4B5563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952805"/>
            <a:ext cx="12191695" cy="38405"/>
          </a:xfrm>
          <a:prstGeom prst="rect">
            <a:avLst/>
          </a:prstGeom>
        </p:spPr>
      </p:pic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t="-393" b="-393"/>
          <a:stretch/>
        </p:blipFill>
        <p:spPr>
          <a:xfrm>
            <a:off x="2190902" y="2190902"/>
            <a:ext cx="1047902" cy="19202"/>
          </a:xfrm>
          <a:prstGeom prst="rect">
            <a:avLst/>
          </a:prstGeom>
        </p:spPr>
      </p:pic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t="-301" b="-301"/>
          <a:stretch/>
        </p:blipFill>
        <p:spPr>
          <a:xfrm>
            <a:off x="3161995" y="2124151"/>
            <a:ext cx="75895" cy="152705"/>
          </a:xfrm>
          <a:prstGeom prst="rect">
            <a:avLst/>
          </a:prstGeom>
        </p:spPr>
      </p:pic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t="-360" b="-360"/>
          <a:stretch/>
        </p:blipFill>
        <p:spPr>
          <a:xfrm>
            <a:off x="5524805" y="2190902"/>
            <a:ext cx="381305" cy="19202"/>
          </a:xfrm>
          <a:prstGeom prst="rect">
            <a:avLst/>
          </a:prstGeom>
        </p:spPr>
      </p:pic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rcRect t="-301" b="-301"/>
          <a:stretch/>
        </p:blipFill>
        <p:spPr>
          <a:xfrm>
            <a:off x="5829300" y="2124151"/>
            <a:ext cx="75895" cy="152705"/>
          </a:xfrm>
          <a:prstGeom prst="rect">
            <a:avLst/>
          </a:prstGeom>
        </p:spPr>
      </p:pic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/>
          <a:srcRect l="-481" r="-481"/>
          <a:stretch/>
        </p:blipFill>
        <p:spPr>
          <a:xfrm>
            <a:off x="4381805" y="1714500"/>
            <a:ext cx="19202" cy="190195"/>
          </a:xfrm>
          <a:prstGeom prst="rect">
            <a:avLst/>
          </a:prstGeom>
        </p:spPr>
      </p:pic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4381805" y="1524305"/>
            <a:ext cx="5238598" cy="19202"/>
          </a:xfrm>
          <a:prstGeom prst="rect">
            <a:avLst/>
          </a:prstGeom>
        </p:spPr>
      </p:pic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/>
          <a:srcRect l="-481" r="-481"/>
          <a:stretch/>
        </p:blipFill>
        <p:spPr>
          <a:xfrm>
            <a:off x="9620402" y="1524305"/>
            <a:ext cx="19202" cy="190195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9544507" y="1638605"/>
            <a:ext cx="95098" cy="152705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10"/>
          <a:srcRect l="-393" r="-393"/>
          <a:stretch/>
        </p:blipFill>
        <p:spPr>
          <a:xfrm>
            <a:off x="7048195" y="2667305"/>
            <a:ext cx="19202" cy="1047902"/>
          </a:xfrm>
          <a:prstGeom prst="rect">
            <a:avLst/>
          </a:prstGeom>
        </p:spPr>
      </p:pic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11"/>
          <a:srcRect t="-481" b="-481"/>
          <a:stretch/>
        </p:blipFill>
        <p:spPr>
          <a:xfrm>
            <a:off x="6858000" y="3715207"/>
            <a:ext cx="190195" cy="19202"/>
          </a:xfrm>
          <a:prstGeom prst="rect">
            <a:avLst/>
          </a:prstGeom>
        </p:spPr>
      </p:pic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5"/>
          <a:srcRect t="-301" b="-301"/>
          <a:stretch/>
        </p:blipFill>
        <p:spPr>
          <a:xfrm>
            <a:off x="6877202" y="3648456"/>
            <a:ext cx="75895" cy="152705"/>
          </a:xfrm>
          <a:prstGeom prst="rect">
            <a:avLst/>
          </a:prstGeom>
        </p:spPr>
      </p:pic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12"/>
          <a:srcRect t="-400" b="-400"/>
          <a:stretch/>
        </p:blipFill>
        <p:spPr>
          <a:xfrm>
            <a:off x="2190902" y="5143500"/>
            <a:ext cx="571500" cy="19202"/>
          </a:xfrm>
          <a:prstGeom prst="rect">
            <a:avLst/>
          </a:prstGeom>
        </p:spPr>
      </p:pic>
      <p:pic>
        <p:nvPicPr>
          <p:cNvPr id="28" name="Image 13" descr="preencoded.png"/>
          <p:cNvPicPr>
            <a:picLocks noChangeAspect="1"/>
          </p:cNvPicPr>
          <p:nvPr/>
        </p:nvPicPr>
        <p:blipFill>
          <a:blip r:embed="rId13"/>
          <a:srcRect l="-411" r="-411"/>
          <a:stretch/>
        </p:blipFill>
        <p:spPr>
          <a:xfrm>
            <a:off x="2762402" y="3715207"/>
            <a:ext cx="19202" cy="1447495"/>
          </a:xfrm>
          <a:prstGeom prst="rect">
            <a:avLst/>
          </a:prstGeom>
        </p:spPr>
      </p:pic>
      <p:pic>
        <p:nvPicPr>
          <p:cNvPr id="29" name="Image 14" descr="preencoded.png"/>
          <p:cNvPicPr>
            <a:picLocks noChangeAspect="1"/>
          </p:cNvPicPr>
          <p:nvPr/>
        </p:nvPicPr>
        <p:blipFill>
          <a:blip r:embed="rId14"/>
          <a:srcRect t="-404" b="-404"/>
          <a:stretch/>
        </p:blipFill>
        <p:spPr>
          <a:xfrm>
            <a:off x="2762402" y="3715207"/>
            <a:ext cx="1809598" cy="19202"/>
          </a:xfrm>
          <a:prstGeom prst="rect">
            <a:avLst/>
          </a:prstGeom>
        </p:spPr>
      </p:pic>
      <p:pic>
        <p:nvPicPr>
          <p:cNvPr id="30" name="Image 15" descr="preencoded.png"/>
          <p:cNvPicPr>
            <a:picLocks noChangeAspect="1"/>
          </p:cNvPicPr>
          <p:nvPr/>
        </p:nvPicPr>
        <p:blipFill>
          <a:blip r:embed="rId5"/>
          <a:srcRect t="-301" b="-301"/>
          <a:stretch/>
        </p:blipFill>
        <p:spPr>
          <a:xfrm>
            <a:off x="4496105" y="3648456"/>
            <a:ext cx="75895" cy="152705"/>
          </a:xfrm>
          <a:prstGeom prst="rect">
            <a:avLst/>
          </a:prstGeom>
        </p:spPr>
      </p:pic>
      <p:pic>
        <p:nvPicPr>
          <p:cNvPr id="31" name="Image 16" descr="preencoded.png"/>
          <p:cNvPicPr>
            <a:picLocks noChangeAspect="1"/>
          </p:cNvPicPr>
          <p:nvPr/>
        </p:nvPicPr>
        <p:blipFill>
          <a:blip r:embed="rId15"/>
          <a:srcRect t="-397" b="-397"/>
          <a:stretch/>
        </p:blipFill>
        <p:spPr>
          <a:xfrm>
            <a:off x="6858000" y="3429000"/>
            <a:ext cx="2190902" cy="19202"/>
          </a:xfrm>
          <a:prstGeom prst="rect">
            <a:avLst/>
          </a:prstGeom>
        </p:spPr>
      </p:pic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5"/>
          <a:srcRect t="-301" b="-301"/>
          <a:stretch/>
        </p:blipFill>
        <p:spPr>
          <a:xfrm>
            <a:off x="8953805" y="3362249"/>
            <a:ext cx="75895" cy="152705"/>
          </a:xfrm>
          <a:prstGeom prst="rect">
            <a:avLst/>
          </a:prstGeom>
        </p:spPr>
      </p:pic>
      <p:pic>
        <p:nvPicPr>
          <p:cNvPr id="33" name="Image 18" descr="preencoded.png"/>
          <p:cNvPicPr>
            <a:picLocks noChangeAspect="1"/>
          </p:cNvPicPr>
          <p:nvPr/>
        </p:nvPicPr>
        <p:blipFill>
          <a:blip r:embed="rId16"/>
          <a:srcRect l="-391" r="-391"/>
          <a:stretch/>
        </p:blipFill>
        <p:spPr>
          <a:xfrm>
            <a:off x="1429207" y="2667305"/>
            <a:ext cx="19202" cy="2572207"/>
          </a:xfrm>
          <a:prstGeom prst="rect">
            <a:avLst/>
          </a:prstGeom>
        </p:spPr>
      </p:pic>
      <p:pic>
        <p:nvPicPr>
          <p:cNvPr id="34" name="Image 19" descr="preencoded.png"/>
          <p:cNvPicPr>
            <a:picLocks noChangeAspect="1"/>
          </p:cNvPicPr>
          <p:nvPr/>
        </p:nvPicPr>
        <p:blipFill>
          <a:blip r:embed="rId17"/>
          <a:srcRect t="-393" b="-393"/>
          <a:stretch/>
        </p:blipFill>
        <p:spPr>
          <a:xfrm>
            <a:off x="1429207" y="5238598"/>
            <a:ext cx="3143707" cy="19202"/>
          </a:xfrm>
          <a:prstGeom prst="rect">
            <a:avLst/>
          </a:prstGeom>
        </p:spPr>
      </p:pic>
      <p:pic>
        <p:nvPicPr>
          <p:cNvPr id="35" name="Image 20" descr="preencoded.png"/>
          <p:cNvPicPr>
            <a:picLocks noChangeAspect="1"/>
          </p:cNvPicPr>
          <p:nvPr/>
        </p:nvPicPr>
        <p:blipFill>
          <a:blip r:embed="rId5"/>
          <a:srcRect t="-301" b="-301"/>
          <a:stretch/>
        </p:blipFill>
        <p:spPr>
          <a:xfrm>
            <a:off x="4496105" y="5171846"/>
            <a:ext cx="75895" cy="152705"/>
          </a:xfrm>
          <a:prstGeom prst="rect">
            <a:avLst/>
          </a:prstGeom>
        </p:spPr>
      </p:pic>
      <p:pic>
        <p:nvPicPr>
          <p:cNvPr id="36" name="Image 21" descr="preencoded.png"/>
          <p:cNvPicPr>
            <a:picLocks noChangeAspect="1"/>
          </p:cNvPicPr>
          <p:nvPr/>
        </p:nvPicPr>
        <p:blipFill>
          <a:blip r:embed="rId15"/>
          <a:srcRect t="-397" b="-397"/>
          <a:stretch/>
        </p:blipFill>
        <p:spPr>
          <a:xfrm>
            <a:off x="6858000" y="5048402"/>
            <a:ext cx="2190902" cy="19202"/>
          </a:xfrm>
          <a:prstGeom prst="rect">
            <a:avLst/>
          </a:prstGeom>
        </p:spPr>
      </p:pic>
      <p:pic>
        <p:nvPicPr>
          <p:cNvPr id="37" name="Image 22" descr="preencoded.png"/>
          <p:cNvPicPr>
            <a:picLocks noChangeAspect="1"/>
          </p:cNvPicPr>
          <p:nvPr/>
        </p:nvPicPr>
        <p:blipFill>
          <a:blip r:embed="rId5"/>
          <a:srcRect t="-301" b="-301"/>
          <a:stretch/>
        </p:blipFill>
        <p:spPr>
          <a:xfrm>
            <a:off x="8953805" y="4981651"/>
            <a:ext cx="75895" cy="152705"/>
          </a:xfrm>
          <a:prstGeom prst="rect">
            <a:avLst/>
          </a:prstGeom>
        </p:spPr>
      </p:pic>
      <p:pic>
        <p:nvPicPr>
          <p:cNvPr id="38" name="Image 23" descr="preencoded.png"/>
          <p:cNvPicPr>
            <a:picLocks noChangeAspect="1"/>
          </p:cNvPicPr>
          <p:nvPr/>
        </p:nvPicPr>
        <p:blipFill>
          <a:blip r:embed="rId18"/>
          <a:srcRect l="-400" r="-400"/>
          <a:stretch/>
        </p:blipFill>
        <p:spPr>
          <a:xfrm>
            <a:off x="5715000" y="4762195"/>
            <a:ext cx="19202" cy="571500"/>
          </a:xfrm>
          <a:prstGeom prst="rect">
            <a:avLst/>
          </a:prstGeom>
        </p:spPr>
      </p:pic>
      <p:pic>
        <p:nvPicPr>
          <p:cNvPr id="39" name="Image 24" descr="preencoded.png"/>
          <p:cNvPicPr>
            <a:picLocks noChangeAspect="1"/>
          </p:cNvPicPr>
          <p:nvPr/>
        </p:nvPicPr>
        <p:blipFill>
          <a:blip r:embed="rId19"/>
          <a:srcRect t="-404" b="-404"/>
          <a:stretch/>
        </p:blipFill>
        <p:spPr>
          <a:xfrm>
            <a:off x="5715000" y="4381805"/>
            <a:ext cx="3619195" cy="19202"/>
          </a:xfrm>
          <a:prstGeom prst="rect">
            <a:avLst/>
          </a:prstGeom>
        </p:spPr>
      </p:pic>
      <p:pic>
        <p:nvPicPr>
          <p:cNvPr id="40" name="Image 25" descr="preencoded.png"/>
          <p:cNvPicPr>
            <a:picLocks noChangeAspect="1"/>
          </p:cNvPicPr>
          <p:nvPr/>
        </p:nvPicPr>
        <p:blipFill>
          <a:blip r:embed="rId18"/>
          <a:srcRect l="-400" r="-400"/>
          <a:stretch/>
        </p:blipFill>
        <p:spPr>
          <a:xfrm>
            <a:off x="9334195" y="4381805"/>
            <a:ext cx="19202" cy="571500"/>
          </a:xfrm>
          <a:prstGeom prst="rect">
            <a:avLst/>
          </a:prstGeom>
        </p:spPr>
      </p:pic>
      <p:pic>
        <p:nvPicPr>
          <p:cNvPr id="41" name="Image 26" descr="preencoded.png"/>
          <p:cNvPicPr>
            <a:picLocks noChangeAspect="1"/>
          </p:cNvPicPr>
          <p:nvPr/>
        </p:nvPicPr>
        <p:blipFill>
          <a:blip r:embed="rId18"/>
          <a:srcRect l="-400" r="-400"/>
          <a:stretch/>
        </p:blipFill>
        <p:spPr>
          <a:xfrm>
            <a:off x="9334195" y="3810305"/>
            <a:ext cx="19202" cy="571500"/>
          </a:xfrm>
          <a:prstGeom prst="rect">
            <a:avLst/>
          </a:prstGeom>
        </p:spPr>
      </p:pic>
      <p:pic>
        <p:nvPicPr>
          <p:cNvPr id="42" name="Image 27" descr="preencoded.png"/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9353398" y="3924605"/>
            <a:ext cx="95098" cy="152705"/>
          </a:xfrm>
          <a:prstGeom prst="rect">
            <a:avLst/>
          </a:prstGeom>
        </p:spPr>
      </p:pic>
      <p:sp>
        <p:nvSpPr>
          <p:cNvPr id="43" name="Text 13"/>
          <p:cNvSpPr txBox="1"/>
          <p:nvPr/>
        </p:nvSpPr>
        <p:spPr>
          <a:xfrm>
            <a:off x="571500" y="286207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75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FLOW DIAGRAM</a:t>
            </a:r>
            <a:endParaRPr lang="en-US" sz="2700" dirty="0"/>
          </a:p>
        </p:txBody>
      </p:sp>
      <p:sp>
        <p:nvSpPr>
          <p:cNvPr id="44" name="Text 14"/>
          <p:cNvSpPr txBox="1"/>
          <p:nvPr/>
        </p:nvSpPr>
        <p:spPr>
          <a:xfrm>
            <a:off x="437998" y="1238098"/>
            <a:ext cx="19815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EXTERNAL ENTITIES</a:t>
            </a:r>
            <a:endParaRPr lang="en-US" sz="1200" dirty="0"/>
          </a:p>
        </p:txBody>
      </p:sp>
      <p:pic>
        <p:nvPicPr>
          <p:cNvPr id="45" name="Image 28" descr="preencoded.png"/>
          <p:cNvPicPr>
            <a:picLocks noChangeAspect="1"/>
          </p:cNvPicPr>
          <p:nvPr/>
        </p:nvPicPr>
        <p:blipFill>
          <a:blip r:embed="rId20"/>
          <a:srcRect t="-530" b="-530"/>
          <a:stretch/>
        </p:blipFill>
        <p:spPr>
          <a:xfrm>
            <a:off x="1304849" y="2026310"/>
            <a:ext cx="247802" cy="286207"/>
          </a:xfrm>
          <a:prstGeom prst="rect">
            <a:avLst/>
          </a:prstGeom>
        </p:spPr>
      </p:pic>
      <p:sp>
        <p:nvSpPr>
          <p:cNvPr id="46" name="Text 15"/>
          <p:cNvSpPr txBox="1"/>
          <p:nvPr/>
        </p:nvSpPr>
        <p:spPr>
          <a:xfrm>
            <a:off x="629107" y="2381098"/>
            <a:ext cx="16002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/ Uploader</a:t>
            </a:r>
            <a:endParaRPr lang="en-US" sz="1000" dirty="0"/>
          </a:p>
        </p:txBody>
      </p:sp>
      <p:pic>
        <p:nvPicPr>
          <p:cNvPr id="47" name="Image 29" descr="preencoded.png"/>
          <p:cNvPicPr>
            <a:picLocks noChangeAspect="1"/>
          </p:cNvPicPr>
          <p:nvPr/>
        </p:nvPicPr>
        <p:blipFill>
          <a:blip r:embed="rId21"/>
          <a:srcRect l="-607" r="-607"/>
          <a:stretch/>
        </p:blipFill>
        <p:spPr>
          <a:xfrm>
            <a:off x="1248156" y="4883810"/>
            <a:ext cx="362102" cy="286207"/>
          </a:xfrm>
          <a:prstGeom prst="rect">
            <a:avLst/>
          </a:prstGeom>
        </p:spPr>
      </p:pic>
      <p:sp>
        <p:nvSpPr>
          <p:cNvPr id="48" name="Text 16"/>
          <p:cNvSpPr txBox="1"/>
          <p:nvPr/>
        </p:nvSpPr>
        <p:spPr>
          <a:xfrm>
            <a:off x="629107" y="5238598"/>
            <a:ext cx="16002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Administrator</a:t>
            </a:r>
            <a:endParaRPr lang="en-US" sz="1000" dirty="0"/>
          </a:p>
        </p:txBody>
      </p:sp>
      <p:sp>
        <p:nvSpPr>
          <p:cNvPr id="49" name="Text 17"/>
          <p:cNvSpPr txBox="1"/>
          <p:nvPr/>
        </p:nvSpPr>
        <p:spPr>
          <a:xfrm>
            <a:off x="3276295" y="1238098"/>
            <a:ext cx="48774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PROCESSES</a:t>
            </a:r>
            <a:endParaRPr lang="en-US" sz="1200" dirty="0"/>
          </a:p>
        </p:txBody>
      </p:sp>
      <p:sp>
        <p:nvSpPr>
          <p:cNvPr id="50" name="Text 18"/>
          <p:cNvSpPr txBox="1"/>
          <p:nvPr/>
        </p:nvSpPr>
        <p:spPr>
          <a:xfrm>
            <a:off x="3291840" y="1857146"/>
            <a:ext cx="21799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4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 File Processing</a:t>
            </a:r>
            <a:endParaRPr lang="en-US" sz="1000" dirty="0"/>
          </a:p>
        </p:txBody>
      </p:sp>
      <p:sp>
        <p:nvSpPr>
          <p:cNvPr id="51" name="Text 19"/>
          <p:cNvSpPr txBox="1"/>
          <p:nvPr/>
        </p:nvSpPr>
        <p:spPr>
          <a:xfrm>
            <a:off x="3295498" y="2066544"/>
            <a:ext cx="2171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Format → Extract Metadata → Initiate AI Scan</a:t>
            </a:r>
            <a:endParaRPr lang="en-US" sz="800" dirty="0"/>
          </a:p>
        </p:txBody>
      </p:sp>
      <p:sp>
        <p:nvSpPr>
          <p:cNvPr id="52" name="Text 20"/>
          <p:cNvSpPr txBox="1"/>
          <p:nvPr/>
        </p:nvSpPr>
        <p:spPr>
          <a:xfrm>
            <a:off x="5959145" y="1857146"/>
            <a:ext cx="21799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81C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2.0 AI Moderation</a:t>
            </a:r>
            <a:endParaRPr lang="en-US" sz="1000" dirty="0"/>
          </a:p>
        </p:txBody>
      </p:sp>
      <p:sp>
        <p:nvSpPr>
          <p:cNvPr id="53" name="Text 21"/>
          <p:cNvSpPr txBox="1"/>
          <p:nvPr/>
        </p:nvSpPr>
        <p:spPr>
          <a:xfrm>
            <a:off x="5962802" y="2066544"/>
            <a:ext cx="2171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2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Visuals → Detect Risks → Generate Safety Score</a:t>
            </a:r>
            <a:endParaRPr lang="en-US" sz="800" dirty="0"/>
          </a:p>
        </p:txBody>
      </p:sp>
      <p:sp>
        <p:nvSpPr>
          <p:cNvPr id="54" name="Text 22"/>
          <p:cNvSpPr txBox="1"/>
          <p:nvPr/>
        </p:nvSpPr>
        <p:spPr>
          <a:xfrm>
            <a:off x="4625035" y="3381451"/>
            <a:ext cx="21799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2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3.0 Approval Workflow</a:t>
            </a:r>
            <a:endParaRPr lang="en-US" sz="1000" dirty="0"/>
          </a:p>
        </p:txBody>
      </p:sp>
      <p:sp>
        <p:nvSpPr>
          <p:cNvPr id="55" name="Text 23"/>
          <p:cNvSpPr txBox="1"/>
          <p:nvPr/>
        </p:nvSpPr>
        <p:spPr>
          <a:xfrm>
            <a:off x="4629607" y="3590849"/>
            <a:ext cx="2171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 Content → Review AI Score → Approve/Reject</a:t>
            </a:r>
            <a:endParaRPr lang="en-US" sz="800" dirty="0"/>
          </a:p>
        </p:txBody>
      </p:sp>
      <p:sp>
        <p:nvSpPr>
          <p:cNvPr id="56" name="Text 24"/>
          <p:cNvSpPr txBox="1"/>
          <p:nvPr/>
        </p:nvSpPr>
        <p:spPr>
          <a:xfrm>
            <a:off x="4625035" y="4905756"/>
            <a:ext cx="21799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4.0 Access Control</a:t>
            </a:r>
            <a:endParaRPr lang="en-US" sz="1000" dirty="0"/>
          </a:p>
        </p:txBody>
      </p:sp>
      <p:sp>
        <p:nvSpPr>
          <p:cNvPr id="57" name="Text 25"/>
          <p:cNvSpPr txBox="1"/>
          <p:nvPr/>
        </p:nvSpPr>
        <p:spPr>
          <a:xfrm>
            <a:off x="4629607" y="5115154"/>
            <a:ext cx="2171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RLS Policies → Verify Permissions → Log Access</a:t>
            </a:r>
            <a:endParaRPr lang="en-US" sz="800" dirty="0"/>
          </a:p>
        </p:txBody>
      </p:sp>
      <p:sp>
        <p:nvSpPr>
          <p:cNvPr id="58" name="Text 26"/>
          <p:cNvSpPr txBox="1"/>
          <p:nvPr/>
        </p:nvSpPr>
        <p:spPr>
          <a:xfrm>
            <a:off x="9001354" y="1238098"/>
            <a:ext cx="2477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STORES</a:t>
            </a:r>
            <a:endParaRPr lang="en-US" sz="1200" dirty="0"/>
          </a:p>
        </p:txBody>
      </p:sp>
      <p:sp>
        <p:nvSpPr>
          <p:cNvPr id="59" name="Text 27"/>
          <p:cNvSpPr txBox="1"/>
          <p:nvPr/>
        </p:nvSpPr>
        <p:spPr>
          <a:xfrm>
            <a:off x="9037930" y="1857146"/>
            <a:ext cx="240304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D1: Supabase Buckets (Files)</a:t>
            </a:r>
            <a:endParaRPr lang="en-US" sz="1000" dirty="0"/>
          </a:p>
        </p:txBody>
      </p:sp>
      <p:sp>
        <p:nvSpPr>
          <p:cNvPr id="60" name="Text 28"/>
          <p:cNvSpPr txBox="1"/>
          <p:nvPr/>
        </p:nvSpPr>
        <p:spPr>
          <a:xfrm>
            <a:off x="8955634" y="3381451"/>
            <a:ext cx="256855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D2: PostgreSQL (Metadata/Logs)</a:t>
            </a:r>
            <a:endParaRPr lang="en-US" sz="1000" dirty="0"/>
          </a:p>
        </p:txBody>
      </p:sp>
      <p:sp>
        <p:nvSpPr>
          <p:cNvPr id="61" name="Text 29"/>
          <p:cNvSpPr txBox="1"/>
          <p:nvPr/>
        </p:nvSpPr>
        <p:spPr>
          <a:xfrm>
            <a:off x="9100109" y="4905756"/>
            <a:ext cx="227868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D3: LocalStorage (Tokens)</a:t>
            </a:r>
            <a:endParaRPr lang="en-US" sz="1000" dirty="0"/>
          </a:p>
        </p:txBody>
      </p:sp>
      <p:sp>
        <p:nvSpPr>
          <p:cNvPr id="62" name="Text 30"/>
          <p:cNvSpPr txBox="1"/>
          <p:nvPr/>
        </p:nvSpPr>
        <p:spPr>
          <a:xfrm>
            <a:off x="2247595" y="2000707"/>
            <a:ext cx="10287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File</a:t>
            </a:r>
            <a:endParaRPr lang="en-US" sz="800" dirty="0"/>
          </a:p>
        </p:txBody>
      </p:sp>
      <p:sp>
        <p:nvSpPr>
          <p:cNvPr id="63" name="Text 31"/>
          <p:cNvSpPr txBox="1"/>
          <p:nvPr/>
        </p:nvSpPr>
        <p:spPr>
          <a:xfrm>
            <a:off x="7144207" y="3047695"/>
            <a:ext cx="10287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Score</a:t>
            </a:r>
            <a:endParaRPr lang="en-US" sz="800" dirty="0"/>
          </a:p>
        </p:txBody>
      </p:sp>
      <p:sp>
        <p:nvSpPr>
          <p:cNvPr id="64" name="Text 32"/>
          <p:cNvSpPr txBox="1"/>
          <p:nvPr/>
        </p:nvSpPr>
        <p:spPr>
          <a:xfrm>
            <a:off x="2819095" y="3524098"/>
            <a:ext cx="10287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&amp; Decision</a:t>
            </a:r>
            <a:endParaRPr lang="en-US" sz="800" dirty="0"/>
          </a:p>
        </p:txBody>
      </p:sp>
      <p:sp>
        <p:nvSpPr>
          <p:cNvPr id="65" name="Text 33"/>
          <p:cNvSpPr txBox="1"/>
          <p:nvPr/>
        </p:nvSpPr>
        <p:spPr>
          <a:xfrm>
            <a:off x="7391095" y="3238805"/>
            <a:ext cx="10287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Status</a:t>
            </a:r>
            <a:endParaRPr lang="en-US" sz="800" dirty="0"/>
          </a:p>
        </p:txBody>
      </p:sp>
      <p:sp>
        <p:nvSpPr>
          <p:cNvPr id="66" name="Text 34"/>
          <p:cNvSpPr txBox="1"/>
          <p:nvPr/>
        </p:nvSpPr>
        <p:spPr>
          <a:xfrm>
            <a:off x="2819095" y="5333695"/>
            <a:ext cx="10287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Access</a:t>
            </a:r>
            <a:endParaRPr lang="en-US" sz="800" dirty="0"/>
          </a:p>
        </p:txBody>
      </p:sp>
      <p:sp>
        <p:nvSpPr>
          <p:cNvPr id="67" name="Text 35"/>
          <p:cNvSpPr txBox="1"/>
          <p:nvPr/>
        </p:nvSpPr>
        <p:spPr>
          <a:xfrm>
            <a:off x="7391095" y="4858207"/>
            <a:ext cx="10287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Token</a:t>
            </a:r>
            <a:endParaRPr lang="en-US" sz="800" dirty="0"/>
          </a:p>
        </p:txBody>
      </p:sp>
      <p:sp>
        <p:nvSpPr>
          <p:cNvPr id="68" name="Text 36"/>
          <p:cNvSpPr txBox="1"/>
          <p:nvPr/>
        </p:nvSpPr>
        <p:spPr>
          <a:xfrm>
            <a:off x="8058607" y="4190695"/>
            <a:ext cx="10287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Access</a:t>
            </a:r>
            <a:endParaRPr lang="en-US" sz="800" dirty="0"/>
          </a:p>
        </p:txBody>
      </p:sp>
      <p:sp>
        <p:nvSpPr>
          <p:cNvPr id="69" name="Text 37"/>
          <p:cNvSpPr txBox="1"/>
          <p:nvPr/>
        </p:nvSpPr>
        <p:spPr>
          <a:xfrm>
            <a:off x="457200" y="6687007"/>
            <a:ext cx="111639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Project Review | Dept. of CSE, CMR Technical Campus</a:t>
            </a:r>
            <a:endParaRPr lang="en-US" sz="800" dirty="0"/>
          </a:p>
        </p:txBody>
      </p:sp>
      <p:pic>
        <p:nvPicPr>
          <p:cNvPr id="72" name="Image 7">
            <a:extLst>
              <a:ext uri="{FF2B5EF4-FFF2-40B4-BE49-F238E27FC236}">
                <a16:creationId xmlns:a16="http://schemas.microsoft.com/office/drawing/2014/main" id="{58DE75C4-8318-2292-7658-71EDD0C6E4CB}"/>
              </a:ext>
            </a:extLst>
          </p:cNvPr>
          <p:cNvPicPr>
            <a:picLocks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1114569" y="-65315"/>
            <a:ext cx="1013082" cy="11622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667805"/>
            <a:ext cx="12191695" cy="190195"/>
          </a:xfrm>
          <a:prstGeom prst="rect">
            <a:avLst/>
          </a:prstGeom>
          <a:solidFill>
            <a:srgbClr val="0F2C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1238098"/>
            <a:ext cx="5352898" cy="2619756"/>
          </a:xfrm>
          <a:prstGeom prst="roundRect">
            <a:avLst>
              <a:gd name="adj" fmla="val 20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1500" y="1238098"/>
            <a:ext cx="5352898" cy="38405"/>
          </a:xfrm>
          <a:prstGeom prst="roundRect">
            <a:avLst>
              <a:gd name="adj" fmla="val 138527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86500" y="1238098"/>
            <a:ext cx="5352898" cy="2619756"/>
          </a:xfrm>
          <a:prstGeom prst="roundRect">
            <a:avLst>
              <a:gd name="adj" fmla="val 20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86500" y="1238098"/>
            <a:ext cx="5352898" cy="38405"/>
          </a:xfrm>
          <a:prstGeom prst="roundRect">
            <a:avLst>
              <a:gd name="adj" fmla="val 138527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1500" y="4000500"/>
            <a:ext cx="5352898" cy="2619756"/>
          </a:xfrm>
          <a:prstGeom prst="roundRect">
            <a:avLst>
              <a:gd name="adj" fmla="val 20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1500" y="4000500"/>
            <a:ext cx="5352898" cy="38405"/>
          </a:xfrm>
          <a:prstGeom prst="roundRect">
            <a:avLst>
              <a:gd name="adj" fmla="val 138527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6500" y="4000500"/>
            <a:ext cx="5352898" cy="2619756"/>
          </a:xfrm>
          <a:prstGeom prst="roundRect">
            <a:avLst>
              <a:gd name="adj" fmla="val 20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86500" y="4000500"/>
            <a:ext cx="5352898" cy="38405"/>
          </a:xfrm>
          <a:prstGeom prst="roundRect">
            <a:avLst>
              <a:gd name="adj" fmla="val 138527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7707" y="1429207"/>
            <a:ext cx="571500" cy="5715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72707" y="1429207"/>
            <a:ext cx="571500" cy="57150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7707" y="4190695"/>
            <a:ext cx="571500" cy="571500"/>
          </a:xfrm>
          <a:prstGeom prst="ellipse">
            <a:avLst/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72707" y="4190695"/>
            <a:ext cx="571500" cy="57150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952805"/>
            <a:ext cx="12191695" cy="38405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71500" y="286207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75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FEATURES: AUTHENTICATION &amp; ORGANIZATION</a:t>
            </a:r>
            <a:endParaRPr lang="en-US" sz="27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 l="-607" r="-607"/>
          <a:stretch/>
        </p:blipFill>
        <p:spPr>
          <a:xfrm>
            <a:off x="1000354" y="1597457"/>
            <a:ext cx="362102" cy="286207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619402" y="157185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Guest &amp; Admin Authentication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1047902" y="2095805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 Access: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Username-based login eliminates password fatigue while maintaining user tracking.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1047902" y="2628900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Security: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Password-protected ("coderesol") access for elevated privileges.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1047902" y="3161995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Control: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Auto-expiry tokens and instant revocation via dashboard.</a:t>
            </a:r>
            <a:endParaRPr lang="en-US" sz="12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 l="-266" r="-266"/>
          <a:stretch/>
        </p:blipFill>
        <p:spPr>
          <a:xfrm>
            <a:off x="6715354" y="1597457"/>
            <a:ext cx="323698" cy="286207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334402" y="157185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4E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Hierarchical File Structure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6762902" y="2095805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Nested Folders: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Support for unlimited nesting levels to match organizational complexity.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6762902" y="2628900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Drag-and-Drop: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Intuitive interface for moving files and restructuring folders.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6762902" y="3161995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Integrity Checks: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Automatic validation prevents orphaned files and maintains structure.</a:t>
            </a:r>
            <a:endParaRPr lang="en-US" sz="12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rcRect l="-266" r="-266"/>
          <a:stretch/>
        </p:blipFill>
        <p:spPr>
          <a:xfrm>
            <a:off x="1000354" y="4359859"/>
            <a:ext cx="323698" cy="286207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619402" y="433425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835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Bulk Upload &amp; Management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1047902" y="4858207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Folder Uploads: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Upload entire folder trees while preserving local directory structure.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1047902" y="5391302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Processing: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Concurrent processing of multiple files for improved performance.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1047902" y="5924398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Queue Management: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Visual progress tracking for large upload batches.</a:t>
            </a:r>
            <a:endParaRPr lang="en-US" sz="12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15354" y="4359859"/>
            <a:ext cx="286207" cy="286207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7334402" y="433425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C1D9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Role-Based Access Control</a:t>
            </a:r>
            <a:endParaRPr lang="en-US" sz="1500" dirty="0"/>
          </a:p>
        </p:txBody>
      </p:sp>
      <p:sp>
        <p:nvSpPr>
          <p:cNvPr id="37" name="Text 30"/>
          <p:cNvSpPr txBox="1"/>
          <p:nvPr/>
        </p:nvSpPr>
        <p:spPr>
          <a:xfrm>
            <a:off x="6762902" y="4858207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Enforcement: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Row Level Security (RLS) policies enforce permissions at the database layer.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6762902" y="5391302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Granular Permissions: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Differentiate between view, edit, and admin capabilities.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762902" y="5924398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Defense-in-Depth: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Security maintained even if application logic is bypassed.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457200" y="6687007"/>
            <a:ext cx="111639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Project Review | Dept. of CSE, CMR Technical Campus</a:t>
            </a:r>
            <a:endParaRPr lang="en-US" sz="800" dirty="0"/>
          </a:p>
        </p:txBody>
      </p:sp>
      <p:pic>
        <p:nvPicPr>
          <p:cNvPr id="42" name="Image 7">
            <a:extLst>
              <a:ext uri="{FF2B5EF4-FFF2-40B4-BE49-F238E27FC236}">
                <a16:creationId xmlns:a16="http://schemas.microsoft.com/office/drawing/2014/main" id="{0794A454-F393-DA69-A61D-11CE66837DCA}"/>
              </a:ext>
            </a:extLst>
          </p:cNvPr>
          <p:cNvPicPr>
            <a:picLocks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1114569" y="-65315"/>
            <a:ext cx="1013082" cy="11622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72707"/>
            <a:ext cx="12191695" cy="286207"/>
          </a:xfrm>
          <a:prstGeom prst="rect">
            <a:avLst/>
          </a:prstGeom>
          <a:solidFill>
            <a:srgbClr val="0F2C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1238098"/>
            <a:ext cx="5352898" cy="2619756"/>
          </a:xfrm>
          <a:prstGeom prst="roundRect">
            <a:avLst>
              <a:gd name="adj" fmla="val 20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1500" y="1238098"/>
            <a:ext cx="5352898" cy="38405"/>
          </a:xfrm>
          <a:prstGeom prst="roundRect">
            <a:avLst>
              <a:gd name="adj" fmla="val 138527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86500" y="1238098"/>
            <a:ext cx="5352898" cy="2619756"/>
          </a:xfrm>
          <a:prstGeom prst="roundRect">
            <a:avLst>
              <a:gd name="adj" fmla="val 20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86500" y="1238098"/>
            <a:ext cx="5352898" cy="38405"/>
          </a:xfrm>
          <a:prstGeom prst="roundRect">
            <a:avLst>
              <a:gd name="adj" fmla="val 138527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1500" y="4000500"/>
            <a:ext cx="5352898" cy="2619756"/>
          </a:xfrm>
          <a:prstGeom prst="roundRect">
            <a:avLst>
              <a:gd name="adj" fmla="val 20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1500" y="4000500"/>
            <a:ext cx="5352898" cy="38405"/>
          </a:xfrm>
          <a:prstGeom prst="roundRect">
            <a:avLst>
              <a:gd name="adj" fmla="val 138527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6500" y="4000500"/>
            <a:ext cx="5352898" cy="2619756"/>
          </a:xfrm>
          <a:prstGeom prst="roundRect">
            <a:avLst>
              <a:gd name="adj" fmla="val 20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86500" y="4000500"/>
            <a:ext cx="5352898" cy="38405"/>
          </a:xfrm>
          <a:prstGeom prst="roundRect">
            <a:avLst>
              <a:gd name="adj" fmla="val 138527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7707" y="1429207"/>
            <a:ext cx="571500" cy="571500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72707" y="1429207"/>
            <a:ext cx="571500" cy="57150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7707" y="4190695"/>
            <a:ext cx="571500" cy="57150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72707" y="4190695"/>
            <a:ext cx="571500" cy="571500"/>
          </a:xfrm>
          <a:prstGeom prst="ellipse">
            <a:avLst/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952805"/>
            <a:ext cx="12191695" cy="38405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71500" y="286207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75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FEATURES: APPROVALS &amp; AI MODERATION</a:t>
            </a:r>
            <a:endParaRPr lang="en-US" sz="27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 l="-266" r="-266"/>
          <a:stretch/>
        </p:blipFill>
        <p:spPr>
          <a:xfrm>
            <a:off x="1000354" y="1597457"/>
            <a:ext cx="323698" cy="286207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619402" y="157185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91B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Configurable Approval Workflows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1047902" y="2095805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Multi-Stage Queues: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Customize approval processes with defined stages and escalation paths.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1047902" y="2628900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Configuration: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Adapt workflows to match specific organizational hierarchies.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1047902" y="3161995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Escalation Handling: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Automatically route complex decisions to senior administrators.</a:t>
            </a:r>
            <a:endParaRPr lang="en-US" sz="12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6715354" y="1597457"/>
            <a:ext cx="362102" cy="286207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334402" y="157185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B21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AI-Powered Safety Assessment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6762902" y="2095805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Analysis: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 models analyze content for potential policy violations before human review.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6762902" y="2628900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Prioritization: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Flags high-risk content for immediate attention, streamlining workflows.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6762902" y="3161995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Consistency: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Standardizes decision-making criteria across all reviewers.</a:t>
            </a:r>
            <a:endParaRPr lang="en-US" sz="12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00354" y="4359859"/>
            <a:ext cx="286207" cy="286207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619402" y="433425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59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 Review Dashboard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1047902" y="4858207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View: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Comprehensive dashboard displaying all pending approval items.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1047902" y="5391302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Previews: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Instant preview capabilities for documents and media files.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1047902" y="5924398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Contextual Data: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Displays uploader info, timestamp, and AI safety score side-by-side.</a:t>
            </a:r>
            <a:endParaRPr lang="en-US" sz="12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15354" y="4359859"/>
            <a:ext cx="286207" cy="286207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7334402" y="433425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24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Audit Trail &amp; Logs</a:t>
            </a:r>
            <a:endParaRPr lang="en-US" sz="1500" dirty="0"/>
          </a:p>
        </p:txBody>
      </p:sp>
      <p:sp>
        <p:nvSpPr>
          <p:cNvPr id="37" name="Text 30"/>
          <p:cNvSpPr txBox="1"/>
          <p:nvPr/>
        </p:nvSpPr>
        <p:spPr>
          <a:xfrm>
            <a:off x="6762902" y="4858207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Tracking: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Records every approval/rejection with administrator identity.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6762902" y="5391302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Rationale Capture: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Mandatory input for decision rationale ensures accountability.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762902" y="5924398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Ready: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Generate detailed reports for regulatory and compliance audits.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457200" y="6620256"/>
            <a:ext cx="11163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Project Review | Dept. of CSE, CMR Technical Campus</a:t>
            </a:r>
            <a:endParaRPr lang="en-US" sz="900" dirty="0"/>
          </a:p>
        </p:txBody>
      </p:sp>
      <p:pic>
        <p:nvPicPr>
          <p:cNvPr id="42" name="Image 7">
            <a:extLst>
              <a:ext uri="{FF2B5EF4-FFF2-40B4-BE49-F238E27FC236}">
                <a16:creationId xmlns:a16="http://schemas.microsoft.com/office/drawing/2014/main" id="{881E677D-2C1A-7B05-9938-D4084B059CF3}"/>
              </a:ext>
            </a:extLst>
          </p:cNvPr>
          <p:cNvPicPr>
            <a:picLocks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1114569" y="-65315"/>
            <a:ext cx="1013082" cy="11622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667805"/>
            <a:ext cx="12191695" cy="190195"/>
          </a:xfrm>
          <a:prstGeom prst="rect">
            <a:avLst/>
          </a:prstGeom>
          <a:solidFill>
            <a:srgbClr val="0F2C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1143000"/>
            <a:ext cx="5352898" cy="2619756"/>
          </a:xfrm>
          <a:prstGeom prst="roundRect">
            <a:avLst>
              <a:gd name="adj" fmla="val 20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1500" y="1143000"/>
            <a:ext cx="5352898" cy="38405"/>
          </a:xfrm>
          <a:prstGeom prst="roundRect">
            <a:avLst>
              <a:gd name="adj" fmla="val 138527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86500" y="1143000"/>
            <a:ext cx="5352898" cy="2619756"/>
          </a:xfrm>
          <a:prstGeom prst="roundRect">
            <a:avLst>
              <a:gd name="adj" fmla="val 20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86500" y="1143000"/>
            <a:ext cx="5352898" cy="38405"/>
          </a:xfrm>
          <a:prstGeom prst="roundRect">
            <a:avLst>
              <a:gd name="adj" fmla="val 138527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1500" y="3905402"/>
            <a:ext cx="5352898" cy="2619756"/>
          </a:xfrm>
          <a:prstGeom prst="roundRect">
            <a:avLst>
              <a:gd name="adj" fmla="val 20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1500" y="3905402"/>
            <a:ext cx="5352898" cy="38405"/>
          </a:xfrm>
          <a:prstGeom prst="roundRect">
            <a:avLst>
              <a:gd name="adj" fmla="val 138527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6500" y="3905402"/>
            <a:ext cx="5352898" cy="2619756"/>
          </a:xfrm>
          <a:prstGeom prst="roundRect">
            <a:avLst>
              <a:gd name="adj" fmla="val 20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86500" y="3905402"/>
            <a:ext cx="5352898" cy="38405"/>
          </a:xfrm>
          <a:prstGeom prst="roundRect">
            <a:avLst>
              <a:gd name="adj" fmla="val 138527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7707" y="1333195"/>
            <a:ext cx="571500" cy="5715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72707" y="1333195"/>
            <a:ext cx="571500" cy="57150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7707" y="4095598"/>
            <a:ext cx="571500" cy="571500"/>
          </a:xfrm>
          <a:prstGeom prst="ellipse">
            <a:avLst/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72707" y="4095598"/>
            <a:ext cx="571500" cy="57150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952805"/>
            <a:ext cx="12191695" cy="38405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71500" y="286207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75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FEATURES: SHARING &amp; REAL-TIME UPDATES</a:t>
            </a:r>
            <a:endParaRPr lang="en-US" sz="27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 t="-530" b="-530"/>
          <a:stretch/>
        </p:blipFill>
        <p:spPr>
          <a:xfrm>
            <a:off x="1019556" y="1502359"/>
            <a:ext cx="247802" cy="286207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619402" y="147675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Secure Link Sharing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1047902" y="2000707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Time-Limited Links: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Generate shareable links with configurable expiration dates for temporary access.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1047902" y="2533802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 Restrictions: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Set download limits to control distribution of sensitive materials.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1047902" y="3066898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Revocation: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Admins can immediately disable active links via the dashboard.</a:t>
            </a:r>
            <a:endParaRPr lang="en-US" sz="12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15354" y="1502359"/>
            <a:ext cx="286207" cy="286207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334402" y="147675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4E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Usage Analytics &amp; Policy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6762902" y="2000707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Tracking: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Monitor who accesses shared files and when for comprehensive oversight.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6762902" y="2533802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Enforcement: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Automatically enforce organizational sharing policies on all links.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6762902" y="3066898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Visibility: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Complete visibility into external sharing patterns for compliance.</a:t>
            </a:r>
            <a:endParaRPr lang="en-US" sz="12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rcRect t="-530" b="-530"/>
          <a:stretch/>
        </p:blipFill>
        <p:spPr>
          <a:xfrm>
            <a:off x="1019556" y="4264762"/>
            <a:ext cx="247802" cy="286207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619402" y="42382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835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Notifications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1047902" y="4762195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 Subscriptions: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Leverage WebSockets for instant alerts on file status changes.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1047902" y="5296205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Feedback: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Users notified instantly upon approval or rejection of uploads.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1047902" y="5829300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Alerts: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Admins receive real-time notifications for new pending approvals.</a:t>
            </a:r>
            <a:endParaRPr lang="en-US" sz="12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15354" y="4264762"/>
            <a:ext cx="286207" cy="286207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7334402" y="42382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C1D9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Synchronized Updates</a:t>
            </a:r>
            <a:endParaRPr lang="en-US" sz="1500" dirty="0"/>
          </a:p>
        </p:txBody>
      </p:sp>
      <p:sp>
        <p:nvSpPr>
          <p:cNvPr id="37" name="Text 30"/>
          <p:cNvSpPr txBox="1"/>
          <p:nvPr/>
        </p:nvSpPr>
        <p:spPr>
          <a:xfrm>
            <a:off x="6762902" y="4762195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Synchronization: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Consistent view of file system across all connected clients.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6762902" y="5296205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Dashboard: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Admin dashboard updates automatically without manual refresh.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762902" y="5829300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Collaboration Ready: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Enables teams to work simultaneously with up-to-date information.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457200" y="6687007"/>
            <a:ext cx="111639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Project Review | Dept. of CSE, CMR Technical Campus</a:t>
            </a:r>
            <a:endParaRPr lang="en-US" sz="800" dirty="0"/>
          </a:p>
        </p:txBody>
      </p:sp>
      <p:pic>
        <p:nvPicPr>
          <p:cNvPr id="42" name="Image 7">
            <a:extLst>
              <a:ext uri="{FF2B5EF4-FFF2-40B4-BE49-F238E27FC236}">
                <a16:creationId xmlns:a16="http://schemas.microsoft.com/office/drawing/2014/main" id="{A8A8D64B-F421-D2E5-7653-07CB2E87FBEA}"/>
              </a:ext>
            </a:extLst>
          </p:cNvPr>
          <p:cNvPicPr>
            <a:picLocks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1114569" y="-65315"/>
            <a:ext cx="1013082" cy="11622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320" r="-320"/>
          <a:stretch/>
        </p:blipFill>
        <p:spPr>
          <a:xfrm>
            <a:off x="1714500" y="3047695"/>
            <a:ext cx="19202" cy="286207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384" r="-384"/>
          <a:stretch/>
        </p:blipFill>
        <p:spPr>
          <a:xfrm>
            <a:off x="4381805" y="3333902"/>
            <a:ext cx="19202" cy="476402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320" r="-320"/>
          <a:stretch/>
        </p:blipFill>
        <p:spPr>
          <a:xfrm>
            <a:off x="7048195" y="3047695"/>
            <a:ext cx="19202" cy="286207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 l="-384" r="-384"/>
          <a:stretch/>
        </p:blipFill>
        <p:spPr>
          <a:xfrm>
            <a:off x="9715500" y="3333902"/>
            <a:ext cx="19202" cy="476402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0F2C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952805" y="3333902"/>
            <a:ext cx="10287000" cy="38405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6"/>
          <a:srcRect t="-401" b="-401"/>
          <a:stretch/>
        </p:blipFill>
        <p:spPr>
          <a:xfrm>
            <a:off x="0" y="952805"/>
            <a:ext cx="12191695" cy="38405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571500" y="1904695"/>
            <a:ext cx="2305202" cy="1162202"/>
          </a:xfrm>
          <a:prstGeom prst="roundRect">
            <a:avLst>
              <a:gd name="adj" fmla="val 1031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Shape 5"/>
          <p:cNvSpPr/>
          <p:nvPr/>
        </p:nvSpPr>
        <p:spPr>
          <a:xfrm>
            <a:off x="3238805" y="3810305"/>
            <a:ext cx="2305202" cy="1162202"/>
          </a:xfrm>
          <a:prstGeom prst="roundRect">
            <a:avLst>
              <a:gd name="adj" fmla="val 10318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" name="Shape 6"/>
          <p:cNvSpPr/>
          <p:nvPr/>
        </p:nvSpPr>
        <p:spPr>
          <a:xfrm>
            <a:off x="5905195" y="1904695"/>
            <a:ext cx="2305202" cy="1162202"/>
          </a:xfrm>
          <a:prstGeom prst="roundRect">
            <a:avLst>
              <a:gd name="adj" fmla="val 10318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5" name="Shape 7"/>
          <p:cNvSpPr/>
          <p:nvPr/>
        </p:nvSpPr>
        <p:spPr>
          <a:xfrm>
            <a:off x="8572500" y="3810305"/>
            <a:ext cx="2305202" cy="1162202"/>
          </a:xfrm>
          <a:prstGeom prst="roundRect">
            <a:avLst>
              <a:gd name="adj" fmla="val 10318"/>
            </a:avLst>
          </a:prstGeom>
          <a:solidFill>
            <a:srgbClr val="F3E8FF"/>
          </a:solidFill>
          <a:ln w="12700">
            <a:solidFill>
              <a:srgbClr val="D8B4FE"/>
            </a:solidFill>
            <a:prstDash val="solid"/>
          </a:ln>
        </p:spPr>
      </p:sp>
      <p:sp>
        <p:nvSpPr>
          <p:cNvPr id="16" name="Shape 8"/>
          <p:cNvSpPr/>
          <p:nvPr/>
        </p:nvSpPr>
        <p:spPr>
          <a:xfrm>
            <a:off x="3238805" y="5333695"/>
            <a:ext cx="7638898" cy="780898"/>
          </a:xfrm>
          <a:prstGeom prst="roundRect">
            <a:avLst>
              <a:gd name="adj" fmla="val 2284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9"/>
          <p:cNvSpPr txBox="1"/>
          <p:nvPr/>
        </p:nvSpPr>
        <p:spPr>
          <a:xfrm>
            <a:off x="571500" y="286207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75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 OVERVIEW</a:t>
            </a:r>
            <a:endParaRPr lang="en-US" sz="2700" dirty="0"/>
          </a:p>
        </p:txBody>
      </p:sp>
      <p:sp>
        <p:nvSpPr>
          <p:cNvPr id="18" name="Shape 10"/>
          <p:cNvSpPr/>
          <p:nvPr/>
        </p:nvSpPr>
        <p:spPr>
          <a:xfrm>
            <a:off x="1524305" y="3143707"/>
            <a:ext cx="418795" cy="4187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619402" y="3238805"/>
            <a:ext cx="228600" cy="22860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724205" y="2048256"/>
            <a:ext cx="19815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Infrastructure</a:t>
            </a:r>
            <a:endParaRPr lang="en-US" sz="1200" dirty="0"/>
          </a:p>
        </p:txBody>
      </p:sp>
      <p:sp>
        <p:nvSpPr>
          <p:cNvPr id="21" name="Text 12"/>
          <p:cNvSpPr txBox="1"/>
          <p:nvPr/>
        </p:nvSpPr>
        <p:spPr>
          <a:xfrm>
            <a:off x="724205" y="2276856"/>
            <a:ext cx="19815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&amp; Supabase setup, Repository initialization</a:t>
            </a:r>
            <a:endParaRPr lang="en-US" sz="900" dirty="0"/>
          </a:p>
        </p:txBody>
      </p:sp>
      <p:sp>
        <p:nvSpPr>
          <p:cNvPr id="22" name="Shape 13"/>
          <p:cNvSpPr/>
          <p:nvPr/>
        </p:nvSpPr>
        <p:spPr>
          <a:xfrm>
            <a:off x="4190695" y="3143707"/>
            <a:ext cx="418795" cy="4187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4257446" y="3238805"/>
            <a:ext cx="286207" cy="228600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3390595" y="3952951"/>
            <a:ext cx="19815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3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Frontend Dev</a:t>
            </a:r>
            <a:endParaRPr lang="en-US" sz="1200" dirty="0"/>
          </a:p>
        </p:txBody>
      </p:sp>
      <p:sp>
        <p:nvSpPr>
          <p:cNvPr id="25" name="Text 15"/>
          <p:cNvSpPr txBox="1"/>
          <p:nvPr/>
        </p:nvSpPr>
        <p:spPr>
          <a:xfrm>
            <a:off x="3390595" y="4181551"/>
            <a:ext cx="19815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React, TS, Vite setup, UI Components (shadcn)</a:t>
            </a:r>
            <a:endParaRPr lang="en-US" sz="900" dirty="0"/>
          </a:p>
        </p:txBody>
      </p:sp>
      <p:sp>
        <p:nvSpPr>
          <p:cNvPr id="26" name="Shape 16"/>
          <p:cNvSpPr/>
          <p:nvPr/>
        </p:nvSpPr>
        <p:spPr>
          <a:xfrm>
            <a:off x="6858000" y="3143707"/>
            <a:ext cx="418795" cy="4187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l="-80" r="-80"/>
          <a:stretch/>
        </p:blipFill>
        <p:spPr>
          <a:xfrm>
            <a:off x="6924751" y="3238805"/>
            <a:ext cx="286207" cy="22860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6057900" y="2048256"/>
            <a:ext cx="19815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2D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Core Logic</a:t>
            </a:r>
            <a:endParaRPr lang="en-US" sz="1200" dirty="0"/>
          </a:p>
        </p:txBody>
      </p:sp>
      <p:sp>
        <p:nvSpPr>
          <p:cNvPr id="29" name="Text 18"/>
          <p:cNvSpPr txBox="1"/>
          <p:nvPr/>
        </p:nvSpPr>
        <p:spPr>
          <a:xfrm>
            <a:off x="6057900" y="2276856"/>
            <a:ext cx="19815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Uploads, Metadata, RLS Policies, Sharing APIs</a:t>
            </a:r>
            <a:endParaRPr lang="en-US" sz="900" dirty="0"/>
          </a:p>
        </p:txBody>
      </p:sp>
      <p:sp>
        <p:nvSpPr>
          <p:cNvPr id="30" name="Shape 19"/>
          <p:cNvSpPr/>
          <p:nvPr/>
        </p:nvSpPr>
        <p:spPr>
          <a:xfrm>
            <a:off x="9525305" y="3143707"/>
            <a:ext cx="418795" cy="4187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333EA"/>
            </a:solidFill>
            <a:prstDash val="solid"/>
          </a:ln>
        </p:spPr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620402" y="3238805"/>
            <a:ext cx="228600" cy="228600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8725205" y="3952951"/>
            <a:ext cx="19815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81C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AI &amp; Advanced</a:t>
            </a:r>
            <a:endParaRPr lang="en-US" sz="1200" dirty="0"/>
          </a:p>
        </p:txBody>
      </p:sp>
      <p:sp>
        <p:nvSpPr>
          <p:cNvPr id="33" name="Text 21"/>
          <p:cNvSpPr txBox="1"/>
          <p:nvPr/>
        </p:nvSpPr>
        <p:spPr>
          <a:xfrm>
            <a:off x="8725205" y="4181551"/>
            <a:ext cx="19815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Moderation Pipeline, Real-time Subs</a:t>
            </a:r>
            <a:endParaRPr lang="en-US" sz="900" dirty="0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3429000" y="5553151"/>
            <a:ext cx="304495" cy="304495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4000500" y="5477256"/>
            <a:ext cx="67821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 QA &amp; Production Deployment</a:t>
            </a:r>
            <a:endParaRPr lang="en-US" sz="1200" dirty="0"/>
          </a:p>
        </p:txBody>
      </p:sp>
      <p:sp>
        <p:nvSpPr>
          <p:cNvPr id="36" name="Text 23"/>
          <p:cNvSpPr txBox="1"/>
          <p:nvPr/>
        </p:nvSpPr>
        <p:spPr>
          <a:xfrm>
            <a:off x="4000500" y="5705856"/>
            <a:ext cx="67821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Unit/Integration Testing, Performance Optimization, Final Production Release on Vercel</a:t>
            </a:r>
            <a:endParaRPr lang="en-US" sz="900" dirty="0"/>
          </a:p>
        </p:txBody>
      </p:sp>
      <p:sp>
        <p:nvSpPr>
          <p:cNvPr id="37" name="Text 24"/>
          <p:cNvSpPr txBox="1"/>
          <p:nvPr/>
        </p:nvSpPr>
        <p:spPr>
          <a:xfrm>
            <a:off x="457200" y="6590995"/>
            <a:ext cx="111639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Project Review | Dept. of CSE, CMR Technical Campus</a:t>
            </a:r>
            <a:endParaRPr lang="en-US" sz="800" dirty="0"/>
          </a:p>
        </p:txBody>
      </p:sp>
      <p:pic>
        <p:nvPicPr>
          <p:cNvPr id="39" name="Image 7">
            <a:extLst>
              <a:ext uri="{FF2B5EF4-FFF2-40B4-BE49-F238E27FC236}">
                <a16:creationId xmlns:a16="http://schemas.microsoft.com/office/drawing/2014/main" id="{6125739D-B218-610C-F40E-48CBE6C05ADE}"/>
              </a:ext>
            </a:extLst>
          </p:cNvPr>
          <p:cNvPicPr>
            <a:picLocks/>
          </p:cNvPicPr>
          <p:nvPr/>
        </p:nvPicPr>
        <p:blipFill rotWithShape="1"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1114569" y="-65315"/>
            <a:ext cx="1013082" cy="11622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96098" y="1904695"/>
            <a:ext cx="3810305" cy="3810305"/>
          </a:xfrm>
          <a:prstGeom prst="ellipse">
            <a:avLst/>
          </a:prstGeom>
          <a:solidFill>
            <a:srgbClr val="0F2C59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667805"/>
            <a:ext cx="12191695" cy="190195"/>
          </a:xfrm>
          <a:prstGeom prst="rect">
            <a:avLst/>
          </a:prstGeom>
          <a:solidFill>
            <a:srgbClr val="0F2C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952805"/>
            <a:ext cx="12191695" cy="384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71500" y="286207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75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ALGORITHMS &amp; KEY COMPONENTS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1429207"/>
            <a:ext cx="10556748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technical mechanisms driving the RESOLGATE platform's functionality, security, and performance.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1695" y="2301545"/>
            <a:ext cx="105540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Moderation Pipeline: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Automated content analysis utilizing visual and contextual processing to assign safety scores (Safe, Low, Medium, High Risk), reducing manual review burden by ~60%. 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61695" y="3063240"/>
            <a:ext cx="105540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 Level Security (RLS):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Database-layer enforcement of access policies where query results are filtered per-user/per-role, ensuring data isolation even if application logic is bypassed. 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61695" y="3824935"/>
            <a:ext cx="105540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Synchronization: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Implementation of publish/subscribe patterns via Supabase Realtime to instantly propagate file status changes and notifications across all active client sessions. 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61695" y="4587545"/>
            <a:ext cx="105540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Caching &amp; Delivery: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Utilization of Vercel's global edge network for content delivery, optimizing latency by serving static assets and API responses from locations geographically closest to users. 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61695" y="5349240"/>
            <a:ext cx="105540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Defense-in-Depth Security: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Multi-layered protection strategy including token-based session management with automatic expiry, encrypted data transport (TLS), and storage encryption at rest. 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687007"/>
            <a:ext cx="111639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Project Review | Dept. of CSE, CMR Technical Campus</a:t>
            </a:r>
            <a:endParaRPr lang="en-US" sz="800" dirty="0"/>
          </a:p>
        </p:txBody>
      </p:sp>
      <p:pic>
        <p:nvPicPr>
          <p:cNvPr id="17" name="Image 7">
            <a:extLst>
              <a:ext uri="{FF2B5EF4-FFF2-40B4-BE49-F238E27FC236}">
                <a16:creationId xmlns:a16="http://schemas.microsoft.com/office/drawing/2014/main" id="{6D235F59-1722-7A64-5951-FBB8888BA1B9}"/>
              </a:ext>
            </a:extLst>
          </p:cNvPr>
          <p:cNvPicPr>
            <a:picLocks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1114569" y="-65315"/>
            <a:ext cx="1013082" cy="11622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2C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1809598"/>
            <a:ext cx="5333695" cy="4667098"/>
          </a:xfrm>
          <a:prstGeom prst="roundRect">
            <a:avLst>
              <a:gd name="adj" fmla="val 6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86500" y="1809598"/>
            <a:ext cx="5333695" cy="4667098"/>
          </a:xfrm>
          <a:prstGeom prst="roundRect">
            <a:avLst>
              <a:gd name="adj" fmla="val 6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3" b="-3"/>
          <a:stretch/>
        </p:blipFill>
        <p:spPr>
          <a:xfrm>
            <a:off x="571500" y="1809598"/>
            <a:ext cx="5333695" cy="57150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 t="-3" b="-3"/>
          <a:stretch/>
        </p:blipFill>
        <p:spPr>
          <a:xfrm>
            <a:off x="6286500" y="1809598"/>
            <a:ext cx="5333695" cy="57150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rcRect t="-401" b="-401"/>
          <a:stretch/>
        </p:blipFill>
        <p:spPr>
          <a:xfrm>
            <a:off x="0" y="952805"/>
            <a:ext cx="12191695" cy="3840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71500" y="286207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75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MODULES DEVELOPED - USER MODULE</a:t>
            </a:r>
            <a:endParaRPr lang="en-US" sz="2700" dirty="0"/>
          </a:p>
        </p:txBody>
      </p:sp>
      <p:sp>
        <p:nvSpPr>
          <p:cNvPr id="12" name="Text 7"/>
          <p:cNvSpPr txBox="1"/>
          <p:nvPr/>
        </p:nvSpPr>
        <p:spPr>
          <a:xfrm>
            <a:off x="571500" y="1095451"/>
            <a:ext cx="111255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User Module provides intuitive interfaces for file management, sharing, and status tracking, designed for simplicity and efficiency in rural learning environments.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100023" y="1952244"/>
            <a:ext cx="47292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Access &amp; Management </a:t>
            </a:r>
            <a:endParaRPr lang="en-US" sz="15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1695" y="1966874"/>
            <a:ext cx="190195" cy="19019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61695" y="2572207"/>
            <a:ext cx="50292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Lightweight Access:</a:t>
            </a: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Guest-based authentication requiring only a username, eliminating complex password management for end-users.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761695" y="3486607"/>
            <a:ext cx="50292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Uploads:</a:t>
            </a: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Support for single and bulk file uploads with drag-and-drop functionality for ease of use.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761695" y="4401007"/>
            <a:ext cx="50292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Hierarchical Organization:</a:t>
            </a: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Create and manage nested folder structures to organize educational content logically.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761695" y="5315407"/>
            <a:ext cx="50292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 UI:</a:t>
            </a: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Fully adaptive interface optimized for desktop, tablet, and mobile devices to support diverse access points.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6795821" y="1952244"/>
            <a:ext cx="4748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Sharing &amp; Status </a:t>
            </a:r>
            <a:endParaRPr lang="en-US" sz="15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6476695" y="1966874"/>
            <a:ext cx="171907" cy="19019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476695" y="2572207"/>
            <a:ext cx="50292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Sharing:</a:t>
            </a: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Generate time-limited shareable links with configurable expiration dates and download limits.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6476695" y="3228746"/>
            <a:ext cx="50292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Tracking:</a:t>
            </a: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View real-time approval status (Pending, Approved, Rejected) for all uploaded content.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6476695" y="3886200"/>
            <a:ext cx="50292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Updates:</a:t>
            </a: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Receive immediate notifications via WebSocket subscriptions when admin actions occur.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6476695" y="4543654"/>
            <a:ext cx="50292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Discovery:</a:t>
            </a: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Search and filter approved files based on metadata, tags, and organizational structure.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457200" y="6667805"/>
            <a:ext cx="111639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Project Review | Dept. of CSE, CMR Technical Campus</a:t>
            </a:r>
            <a:endParaRPr lang="en-US" sz="800" dirty="0"/>
          </a:p>
        </p:txBody>
      </p:sp>
      <p:pic>
        <p:nvPicPr>
          <p:cNvPr id="27" name="Image 7">
            <a:extLst>
              <a:ext uri="{FF2B5EF4-FFF2-40B4-BE49-F238E27FC236}">
                <a16:creationId xmlns:a16="http://schemas.microsoft.com/office/drawing/2014/main" id="{BF4ED2A5-1DD1-957A-3DE3-33A7F37975B3}"/>
              </a:ext>
            </a:extLst>
          </p:cNvPr>
          <p:cNvPicPr>
            <a:picLocks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1114569" y="-65315"/>
            <a:ext cx="1013082" cy="11622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667805"/>
            <a:ext cx="12191695" cy="190195"/>
          </a:xfrm>
          <a:prstGeom prst="rect">
            <a:avLst/>
          </a:prstGeom>
          <a:solidFill>
            <a:srgbClr val="0F2C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2000707"/>
            <a:ext cx="5333695" cy="4476902"/>
          </a:xfrm>
          <a:prstGeom prst="roundRect">
            <a:avLst>
              <a:gd name="adj" fmla="val 6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86500" y="2000707"/>
            <a:ext cx="5333695" cy="4476902"/>
          </a:xfrm>
          <a:prstGeom prst="roundRect">
            <a:avLst>
              <a:gd name="adj" fmla="val 6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3" b="-3"/>
          <a:stretch/>
        </p:blipFill>
        <p:spPr>
          <a:xfrm>
            <a:off x="571500" y="2000707"/>
            <a:ext cx="5333695" cy="57150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 t="-3" b="-3"/>
          <a:stretch/>
        </p:blipFill>
        <p:spPr>
          <a:xfrm>
            <a:off x="6286500" y="2000707"/>
            <a:ext cx="5333695" cy="57150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rcRect t="-401" b="-401"/>
          <a:stretch/>
        </p:blipFill>
        <p:spPr>
          <a:xfrm>
            <a:off x="0" y="952805"/>
            <a:ext cx="12191695" cy="3840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71500" y="286207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75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MODULES DEVELOPED - ADMIN MODULE</a:t>
            </a:r>
            <a:endParaRPr lang="en-US" sz="2700" dirty="0"/>
          </a:p>
        </p:txBody>
      </p:sp>
      <p:sp>
        <p:nvSpPr>
          <p:cNvPr id="12" name="Text 7"/>
          <p:cNvSpPr txBox="1"/>
          <p:nvPr/>
        </p:nvSpPr>
        <p:spPr>
          <a:xfrm>
            <a:off x="571500" y="1238098"/>
            <a:ext cx="111255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Admin Module provides comprehensive control over the repository, enabling oversight of content, users, and security protocols through a secure dashboard.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147572" y="2143354"/>
            <a:ext cx="4681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Access &amp; Approvals </a:t>
            </a:r>
            <a:endParaRPr lang="en-US" sz="15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1695" y="2157070"/>
            <a:ext cx="237744" cy="19019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61695" y="2762402"/>
            <a:ext cx="46488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Authentication:</a:t>
            </a: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Dedicated admin login with password protection ("coderesol") to prevent unauthorized access to sensitive controls.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761695" y="3762756"/>
            <a:ext cx="46488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 Queue Dashboard:</a:t>
            </a: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Centralized view of all uploads awaiting review, complete with file previews and metadata.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761695" y="4762195"/>
            <a:ext cx="46488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Management:</a:t>
            </a: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Streamlined approve/reject actions with required rationale logging for transparency and audit trails.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761695" y="5762549"/>
            <a:ext cx="46488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Alerts:</a:t>
            </a: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Immediate notifications via WebSocket subscriptions when new content requires attention.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6815023" y="2143354"/>
            <a:ext cx="47292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Oversight &amp; Analytics </a:t>
            </a:r>
            <a:endParaRPr lang="en-US" sz="15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76695" y="2157070"/>
            <a:ext cx="190195" cy="19019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476695" y="2762402"/>
            <a:ext cx="46488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Analytics:</a:t>
            </a: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Monitor file access patterns, download statistics, and sharing activity across the organization.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6476695" y="3762756"/>
            <a:ext cx="46488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 Management:</a:t>
            </a: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Ability to instantly revoke active share links or modify expiration settings for enhanced security.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6476695" y="4762195"/>
            <a:ext cx="46488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Management:</a:t>
            </a: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Configure user roles and permission levels, handling escalations for complex approval scenarios.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6476695" y="5762549"/>
            <a:ext cx="46488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Logs:</a:t>
            </a: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Comprehensive tracking of all administrative actions, ensuring accountability and regulatory compliance.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457200" y="6705295"/>
            <a:ext cx="111639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Project Review | Dept. of CSE, CMR Technical Campus</a:t>
            </a:r>
            <a:endParaRPr lang="en-US" sz="800" dirty="0"/>
          </a:p>
        </p:txBody>
      </p:sp>
      <p:pic>
        <p:nvPicPr>
          <p:cNvPr id="27" name="Image 7">
            <a:extLst>
              <a:ext uri="{FF2B5EF4-FFF2-40B4-BE49-F238E27FC236}">
                <a16:creationId xmlns:a16="http://schemas.microsoft.com/office/drawing/2014/main" id="{4E5333EE-5610-64C3-C895-31406A2BE916}"/>
              </a:ext>
            </a:extLst>
          </p:cNvPr>
          <p:cNvPicPr>
            <a:picLocks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1114569" y="-65315"/>
            <a:ext cx="1013082" cy="11622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667805"/>
            <a:ext cx="12191695" cy="190195"/>
          </a:xfrm>
          <a:prstGeom prst="rect">
            <a:avLst/>
          </a:prstGeom>
          <a:solidFill>
            <a:srgbClr val="0F2C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1904695"/>
            <a:ext cx="5333695" cy="4619549"/>
          </a:xfrm>
          <a:prstGeom prst="roundRect">
            <a:avLst>
              <a:gd name="adj" fmla="val 6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86500" y="1904695"/>
            <a:ext cx="5333695" cy="4619549"/>
          </a:xfrm>
          <a:prstGeom prst="roundRect">
            <a:avLst>
              <a:gd name="adj" fmla="val 6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3" b="-3"/>
          <a:stretch/>
        </p:blipFill>
        <p:spPr>
          <a:xfrm>
            <a:off x="571500" y="1904695"/>
            <a:ext cx="5333695" cy="57150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 t="-3" b="-3"/>
          <a:stretch/>
        </p:blipFill>
        <p:spPr>
          <a:xfrm>
            <a:off x="6286500" y="1904695"/>
            <a:ext cx="5333695" cy="57150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rcRect t="-401" b="-401"/>
          <a:stretch/>
        </p:blipFill>
        <p:spPr>
          <a:xfrm>
            <a:off x="0" y="952805"/>
            <a:ext cx="12191695" cy="3840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71500" y="286207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75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MODULES DEVELOPED — AI INTEGRATION</a:t>
            </a:r>
            <a:endParaRPr lang="en-US" sz="2700" dirty="0"/>
          </a:p>
        </p:txBody>
      </p:sp>
      <p:sp>
        <p:nvSpPr>
          <p:cNvPr id="12" name="Text 7"/>
          <p:cNvSpPr txBox="1"/>
          <p:nvPr/>
        </p:nvSpPr>
        <p:spPr>
          <a:xfrm>
            <a:off x="571500" y="1238098"/>
            <a:ext cx="111255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Integration module leverages serverless edge functions to automate content safety analysis, reducing manual moderation burden and ensuring consistent policy enforcement.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147572" y="2048256"/>
            <a:ext cx="4681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Processing Pipeline </a:t>
            </a:r>
            <a:endParaRPr lang="en-US" sz="15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1695" y="2061972"/>
            <a:ext cx="237744" cy="19019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61695" y="2667305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Serverless Execution:</a:t>
            </a: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Leveraging Vercel Edge Functions to process AI analysis on-demand without managing dedicated infrastructure.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761695" y="3504895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Workflow:</a:t>
            </a: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pipeline automatically triggers upon upload: Extraction → Analysis → Scoring → Persistence → Notification.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761695" y="4343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Scoring:</a:t>
            </a: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Generates categorical risk ratings (Safe, Low, Medium, High) based on visual and contextual content analysis.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761695" y="4953305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Persistence:</a:t>
            </a: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Stores detailed analysis results and confidence scores in PostgreSQL for audit trails and future model training.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6815023" y="2048256"/>
            <a:ext cx="47292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Benefits &amp; Impact </a:t>
            </a:r>
            <a:endParaRPr lang="en-US" sz="15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76695" y="2061972"/>
            <a:ext cx="190195" cy="19019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476695" y="2667305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Workload Reduction:</a:t>
            </a: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Successfully lowers manual review requirements by approximately 60% by filtering clearly safe content.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6476695" y="3504895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Prioritization:</a:t>
            </a: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Automatically flags high-risk content for immediate administrative attention, ensuring critical issues are addressed first.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6476695" y="43434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Consistency:</a:t>
            </a: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Eliminates human fatigue and bias factors, ensuring standardized application of organizational content policies.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6476695" y="5181905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Improvement:</a:t>
            </a: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Creates a feedback loop where admin decisions on flagged content help refine future model accuracy.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457200" y="6687007"/>
            <a:ext cx="111639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Project Review | Dept. of CSE, CMR Technical Campus</a:t>
            </a:r>
            <a:endParaRPr lang="en-US" sz="800" dirty="0"/>
          </a:p>
        </p:txBody>
      </p:sp>
      <p:pic>
        <p:nvPicPr>
          <p:cNvPr id="27" name="Image 7">
            <a:extLst>
              <a:ext uri="{FF2B5EF4-FFF2-40B4-BE49-F238E27FC236}">
                <a16:creationId xmlns:a16="http://schemas.microsoft.com/office/drawing/2014/main" id="{8844CC66-C46B-8F33-9898-AD6A7DBCEB18}"/>
              </a:ext>
            </a:extLst>
          </p:cNvPr>
          <p:cNvPicPr>
            <a:picLocks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1114569" y="-65315"/>
            <a:ext cx="1013082" cy="11622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667805"/>
            <a:ext cx="12191695" cy="190195"/>
          </a:xfrm>
          <a:prstGeom prst="rect">
            <a:avLst/>
          </a:prstGeom>
          <a:solidFill>
            <a:srgbClr val="0F2C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1238098"/>
            <a:ext cx="5352898" cy="3066898"/>
          </a:xfrm>
          <a:prstGeom prst="roundRect">
            <a:avLst>
              <a:gd name="adj" fmla="val 148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86500" y="1238098"/>
            <a:ext cx="5352898" cy="3066898"/>
          </a:xfrm>
          <a:prstGeom prst="roundRect">
            <a:avLst>
              <a:gd name="adj" fmla="val 148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1500" y="5619902"/>
            <a:ext cx="11067898" cy="495605"/>
          </a:xfrm>
          <a:prstGeom prst="roundRect">
            <a:avLst>
              <a:gd name="adj" fmla="val 4257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1695" y="1429207"/>
            <a:ext cx="4972507" cy="2686507"/>
          </a:xfrm>
          <a:prstGeom prst="roundRect">
            <a:avLst>
              <a:gd name="adj" fmla="val 966"/>
            </a:avLst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6695" y="1429207"/>
            <a:ext cx="4972507" cy="2686507"/>
          </a:xfrm>
          <a:prstGeom prst="roundRect">
            <a:avLst>
              <a:gd name="adj" fmla="val 966"/>
            </a:avLst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47695" y="2514600"/>
            <a:ext cx="381305" cy="381305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62695" y="2514600"/>
            <a:ext cx="381305" cy="381305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rcRect t="-401" b="-401"/>
          <a:stretch/>
        </p:blipFill>
        <p:spPr>
          <a:xfrm>
            <a:off x="0" y="952805"/>
            <a:ext cx="12191695" cy="384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247595" y="2952598"/>
            <a:ext cx="19815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Insert Screenshot Here: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 Login UI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7962595" y="2952598"/>
            <a:ext cx="19815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Insert Screenshot Here: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Login UI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761695" y="286207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75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&amp; SCREENSHOTS: LOGIN INTERFACES</a:t>
            </a:r>
            <a:endParaRPr lang="en-US" sz="27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" y="4381805"/>
            <a:ext cx="54489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Figure 3.2.1: Guest Login Interface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4610405"/>
            <a:ext cx="54105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Streamlined access point for standard users. Requires only a unique username for session tracking, reducing credential management overhead while maintaining auditability.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6286500" y="4381805"/>
            <a:ext cx="54489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Figure 3.2.2: Admin Login Interface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286500" y="4610405"/>
            <a:ext cx="54105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entry point for administrators requiring password authentication ("coderesol"). Grants access to approval dashboards, user management, and system configuration.</a:t>
            </a:r>
            <a:endParaRPr lang="en-US" sz="10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1695" y="5757977"/>
            <a:ext cx="190195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95451" y="5762549"/>
            <a:ext cx="104013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Live Demo Accessible at: </a:t>
            </a:r>
            <a:r>
              <a:rPr lang="en-US" sz="10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https://resolgate.vercel.app/entry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6687007"/>
            <a:ext cx="111639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Project Review | Dept. of CSE, CMR Technical Campus</a:t>
            </a:r>
            <a:endParaRPr lang="en-US" sz="800" dirty="0"/>
          </a:p>
        </p:txBody>
      </p:sp>
      <p:pic>
        <p:nvPicPr>
          <p:cNvPr id="25" name="Image 7">
            <a:extLst>
              <a:ext uri="{FF2B5EF4-FFF2-40B4-BE49-F238E27FC236}">
                <a16:creationId xmlns:a16="http://schemas.microsoft.com/office/drawing/2014/main" id="{C2F13D4E-64E9-0728-29D1-A110A66DD230}"/>
              </a:ext>
            </a:extLst>
          </p:cNvPr>
          <p:cNvPicPr>
            <a:picLocks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1114569" y="-65315"/>
            <a:ext cx="1013082" cy="11622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4131BCE-0AC5-5C34-1D56-B3FA5522A8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694" y="1429208"/>
            <a:ext cx="4972507" cy="266961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6AB3EA1-523F-C76D-615B-84AD802584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6696" y="1429207"/>
            <a:ext cx="4972506" cy="266961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667805"/>
            <a:ext cx="12191695" cy="190195"/>
          </a:xfrm>
          <a:prstGeom prst="rect">
            <a:avLst/>
          </a:prstGeom>
          <a:solidFill>
            <a:srgbClr val="0F2C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1238098"/>
            <a:ext cx="5352898" cy="3066898"/>
          </a:xfrm>
          <a:prstGeom prst="roundRect">
            <a:avLst>
              <a:gd name="adj" fmla="val 148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86500" y="1238098"/>
            <a:ext cx="5352898" cy="3066898"/>
          </a:xfrm>
          <a:prstGeom prst="roundRect">
            <a:avLst>
              <a:gd name="adj" fmla="val 148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1500" y="5524805"/>
            <a:ext cx="11067898" cy="780898"/>
          </a:xfrm>
          <a:prstGeom prst="roundRect">
            <a:avLst>
              <a:gd name="adj" fmla="val 171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1695" y="1429207"/>
            <a:ext cx="4972507" cy="2686507"/>
          </a:xfrm>
          <a:prstGeom prst="roundRect">
            <a:avLst>
              <a:gd name="adj" fmla="val 966"/>
            </a:avLst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6695" y="1429207"/>
            <a:ext cx="4972507" cy="2686507"/>
          </a:xfrm>
          <a:prstGeom prst="roundRect">
            <a:avLst>
              <a:gd name="adj" fmla="val 966"/>
            </a:avLst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13" b="-13"/>
          <a:stretch/>
        </p:blipFill>
        <p:spPr>
          <a:xfrm>
            <a:off x="3047695" y="2514600"/>
            <a:ext cx="428854" cy="381305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24" b="-24"/>
          <a:stretch/>
        </p:blipFill>
        <p:spPr>
          <a:xfrm>
            <a:off x="8762695" y="2514600"/>
            <a:ext cx="476402" cy="381305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0" y="952805"/>
            <a:ext cx="12191695" cy="384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247595" y="2952598"/>
            <a:ext cx="19815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Insert Screenshot Here: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Dashboard / Landing Page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7962595" y="2952598"/>
            <a:ext cx="19815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Insert Screenshot Here: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Analysis &amp; Approvals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286207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75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&amp; SCREENSHOTS: DASHBOARD &amp; AI FEATURES</a:t>
            </a:r>
            <a:endParaRPr lang="en-US" sz="27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" y="4381805"/>
            <a:ext cx="54489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Figure 5.1: Landing Page (Main Interface)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4610405"/>
            <a:ext cx="54105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central hub for file management, featuring drag-and-drop upload zones, hierarchical folder navigation, and quick access to recent files. Designed with shadcn/ui components for accessibility and responsiveness.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6286500" y="4381805"/>
            <a:ext cx="54489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Figure 5.2: AI Safety Check &amp; Approval Panel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286500" y="4610405"/>
            <a:ext cx="54105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view showing AI-generated safety scores (Safe/Low/Medium/High) alongside pending approval requests. Enables rapid decision-making with context-aware insights powered by edge functions.</a:t>
            </a:r>
            <a:endParaRPr lang="en-US" sz="10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952805" y="5686654"/>
            <a:ext cx="200254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33195" y="5667451"/>
            <a:ext cx="33531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Updates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1333195" y="5886907"/>
            <a:ext cx="3353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status reflection via WebSockets</a:t>
            </a:r>
            <a:endParaRPr lang="en-US" sz="9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62195" y="5686654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143500" y="5667451"/>
            <a:ext cx="33531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AI-Driven Moderation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5143500" y="5886907"/>
            <a:ext cx="3353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content safety scoring</a:t>
            </a:r>
            <a:endParaRPr lang="en-US" sz="9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72500" y="5686654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953805" y="5667451"/>
            <a:ext cx="257586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RLS Security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8953805" y="5886907"/>
            <a:ext cx="257586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Database-level access control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457200" y="6687007"/>
            <a:ext cx="111639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Project Review | Dept. of CSE, CMR Technical Campus</a:t>
            </a:r>
            <a:endParaRPr lang="en-US" sz="800" dirty="0"/>
          </a:p>
        </p:txBody>
      </p:sp>
      <p:pic>
        <p:nvPicPr>
          <p:cNvPr id="32" name="Image 7">
            <a:extLst>
              <a:ext uri="{FF2B5EF4-FFF2-40B4-BE49-F238E27FC236}">
                <a16:creationId xmlns:a16="http://schemas.microsoft.com/office/drawing/2014/main" id="{6249FA07-7AB1-33FF-B811-09016C3EC828}"/>
              </a:ext>
            </a:extLst>
          </p:cNvPr>
          <p:cNvPicPr>
            <a:picLocks/>
          </p:cNvPicPr>
          <p:nvPr/>
        </p:nvPicPr>
        <p:blipFill rotWithShape="1"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1114569" y="-65315"/>
            <a:ext cx="1013082" cy="11622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E94362D-D153-FFA0-3D47-666995BB8B8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1389" y="1385825"/>
            <a:ext cx="4972813" cy="272988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4123C4E-C690-B5F2-F09C-2CAC0B4D4D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6694" y="1681298"/>
            <a:ext cx="5052975" cy="242921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667805"/>
            <a:ext cx="12191695" cy="190195"/>
          </a:xfrm>
          <a:prstGeom prst="rect">
            <a:avLst/>
          </a:prstGeom>
          <a:solidFill>
            <a:srgbClr val="0F2C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1333195"/>
            <a:ext cx="3448202" cy="2523744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1500" y="1333195"/>
            <a:ext cx="3448202" cy="38405"/>
          </a:xfrm>
          <a:prstGeom prst="roundRect">
            <a:avLst>
              <a:gd name="adj" fmla="val 143755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86707" y="1333195"/>
            <a:ext cx="3448202" cy="2523744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86707" y="1333195"/>
            <a:ext cx="3448202" cy="38405"/>
          </a:xfrm>
          <a:prstGeom prst="roundRect">
            <a:avLst>
              <a:gd name="adj" fmla="val 143755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1333195"/>
            <a:ext cx="3638398" cy="2523744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01000" y="1333195"/>
            <a:ext cx="3638398" cy="38405"/>
          </a:xfrm>
          <a:prstGeom prst="roundRect">
            <a:avLst>
              <a:gd name="adj" fmla="val 143755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" y="4095598"/>
            <a:ext cx="11067898" cy="2428646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1500" y="4095598"/>
            <a:ext cx="11067898" cy="38405"/>
          </a:xfrm>
          <a:prstGeom prst="roundRect">
            <a:avLst>
              <a:gd name="adj" fmla="val 149392"/>
            </a:avLst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1695" y="4667098"/>
            <a:ext cx="10668305" cy="381305"/>
          </a:xfrm>
          <a:prstGeom prst="roundRect">
            <a:avLst>
              <a:gd name="adj" fmla="val 47962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952805"/>
            <a:ext cx="12191695" cy="3840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71500" y="286207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75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TESTING &amp; VALIDATION METRICS</a:t>
            </a:r>
            <a:endParaRPr lang="en-US" sz="2700" dirty="0"/>
          </a:p>
        </p:txBody>
      </p:sp>
      <p:sp>
        <p:nvSpPr>
          <p:cNvPr id="17" name="Text 14"/>
          <p:cNvSpPr txBox="1"/>
          <p:nvPr/>
        </p:nvSpPr>
        <p:spPr>
          <a:xfrm>
            <a:off x="761695" y="1524305"/>
            <a:ext cx="3162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Testing Strategy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52805" y="1904695"/>
            <a:ext cx="29343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Testing:</a:t>
            </a: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Jest + React Testing Library for component isolation.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52805" y="2400300"/>
            <a:ext cx="29343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Testing:</a:t>
            </a: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Verifying API routes and Supabase interactions.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52805" y="2895905"/>
            <a:ext cx="29343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E2E Testing:</a:t>
            </a: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Cypress workflows for critical user paths (Upload → Approve).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52805" y="3390595"/>
            <a:ext cx="29343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Performance:</a:t>
            </a: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Load testing via k6 on Vercel Edge functions.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476902" y="1524305"/>
            <a:ext cx="3162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4E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Functional Coverage</a:t>
            </a:r>
            <a:endParaRPr lang="en-US" sz="13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0" y="1904695"/>
            <a:ext cx="2857500" cy="171450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191195" y="1524305"/>
            <a:ext cx="33531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835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Benchmarks</a:t>
            </a:r>
            <a:endParaRPr lang="en-US" sz="13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 l="-5" r="-5"/>
          <a:stretch/>
        </p:blipFill>
        <p:spPr>
          <a:xfrm>
            <a:off x="8191195" y="1904695"/>
            <a:ext cx="3238805" cy="17145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61695" y="4286707"/>
            <a:ext cx="107826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12E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 Summary (Ref. Table 6.2)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952805" y="4762195"/>
            <a:ext cx="15051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Case ID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2572207" y="4762195"/>
            <a:ext cx="2971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 Description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5715000" y="4762195"/>
            <a:ext cx="2971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Outcome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9048902" y="4762195"/>
            <a:ext cx="15051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952805" y="5143500"/>
            <a:ext cx="15051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TC_AUTH_01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2572207" y="5143500"/>
            <a:ext cx="29955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Login with Invalid Credentials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5715000" y="5143500"/>
            <a:ext cx="29955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Denied, Error Toast displayed</a:t>
            </a:r>
            <a:endParaRPr lang="en-US" sz="100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48902" y="5162702"/>
            <a:ext cx="152705" cy="152705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9334195" y="5143500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952805" y="5429707"/>
            <a:ext cx="15051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TC_UPLOAD_02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2572207" y="5429707"/>
            <a:ext cx="2971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Bulk Upload with Nested Folders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5715000" y="5429707"/>
            <a:ext cx="2971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preserved, files queued</a:t>
            </a:r>
            <a:endParaRPr lang="en-US" sz="1000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48902" y="5447995"/>
            <a:ext cx="152705" cy="152705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9334195" y="5429707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952805" y="5715000"/>
            <a:ext cx="15051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TC_AI_03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2572207" y="5715000"/>
            <a:ext cx="2971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High-Risk Content Detection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5715000" y="5715000"/>
            <a:ext cx="339516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Flagged as 'High Risk', auto-notification</a:t>
            </a:r>
            <a:endParaRPr lang="en-US" sz="1000" dirty="0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48902" y="5734202"/>
            <a:ext cx="152705" cy="152705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9334195" y="5715000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</a:t>
            </a:r>
            <a:endParaRPr lang="en-US" sz="1000" dirty="0"/>
          </a:p>
        </p:txBody>
      </p:sp>
      <p:sp>
        <p:nvSpPr>
          <p:cNvPr id="46" name="Text 38"/>
          <p:cNvSpPr txBox="1"/>
          <p:nvPr/>
        </p:nvSpPr>
        <p:spPr>
          <a:xfrm>
            <a:off x="952805" y="6001207"/>
            <a:ext cx="15051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TC_RLS_04</a:t>
            </a:r>
            <a:endParaRPr lang="en-US" sz="1000" dirty="0"/>
          </a:p>
        </p:txBody>
      </p:sp>
      <p:sp>
        <p:nvSpPr>
          <p:cNvPr id="47" name="Text 39"/>
          <p:cNvSpPr txBox="1"/>
          <p:nvPr/>
        </p:nvSpPr>
        <p:spPr>
          <a:xfrm>
            <a:off x="2572207" y="6001207"/>
            <a:ext cx="2971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Unauthorized File Access Attempt</a:t>
            </a:r>
            <a:endParaRPr lang="en-US" sz="1000" dirty="0"/>
          </a:p>
        </p:txBody>
      </p:sp>
      <p:sp>
        <p:nvSpPr>
          <p:cNvPr id="48" name="Text 40"/>
          <p:cNvSpPr txBox="1"/>
          <p:nvPr/>
        </p:nvSpPr>
        <p:spPr>
          <a:xfrm>
            <a:off x="5715000" y="6001207"/>
            <a:ext cx="323514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 query returns empty set (RLS active)</a:t>
            </a:r>
            <a:endParaRPr lang="en-US" sz="1000" dirty="0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48902" y="6019495"/>
            <a:ext cx="152705" cy="15270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9334195" y="6001207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</a:t>
            </a:r>
            <a:endParaRPr lang="en-US" sz="1000" dirty="0"/>
          </a:p>
        </p:txBody>
      </p:sp>
      <p:sp>
        <p:nvSpPr>
          <p:cNvPr id="51" name="Text 42"/>
          <p:cNvSpPr txBox="1"/>
          <p:nvPr/>
        </p:nvSpPr>
        <p:spPr>
          <a:xfrm>
            <a:off x="457200" y="6687007"/>
            <a:ext cx="111639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Project Review | Dept. of CSE, CMR Technical Campus</a:t>
            </a:r>
            <a:endParaRPr lang="en-US" sz="800" dirty="0"/>
          </a:p>
        </p:txBody>
      </p:sp>
      <p:pic>
        <p:nvPicPr>
          <p:cNvPr id="53" name="Image 7">
            <a:extLst>
              <a:ext uri="{FF2B5EF4-FFF2-40B4-BE49-F238E27FC236}">
                <a16:creationId xmlns:a16="http://schemas.microsoft.com/office/drawing/2014/main" id="{0013E82A-ED37-6F00-DC87-7B67B9D22079}"/>
              </a:ext>
            </a:extLst>
          </p:cNvPr>
          <p:cNvPicPr>
            <a:picLocks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1114569" y="-65315"/>
            <a:ext cx="1013082" cy="11622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72500" y="1429207"/>
            <a:ext cx="3333902" cy="3333902"/>
          </a:xfrm>
          <a:prstGeom prst="ellipse">
            <a:avLst/>
          </a:prstGeom>
          <a:solidFill>
            <a:srgbClr val="0F2C59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667805"/>
            <a:ext cx="12191695" cy="190195"/>
          </a:xfrm>
          <a:prstGeom prst="rect">
            <a:avLst/>
          </a:prstGeom>
          <a:solidFill>
            <a:srgbClr val="0F2C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952805"/>
            <a:ext cx="12191695" cy="384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1695" y="5524805"/>
            <a:ext cx="10705795" cy="952805"/>
          </a:xfrm>
          <a:prstGeom prst="roundRect">
            <a:avLst>
              <a:gd name="adj" fmla="val 7678"/>
            </a:avLst>
          </a:prstGeom>
          <a:solidFill>
            <a:srgbClr val="F0F9FF"/>
          </a:solidFill>
          <a:ln/>
        </p:spPr>
      </p:sp>
      <p:sp>
        <p:nvSpPr>
          <p:cNvPr id="9" name="Shape 6"/>
          <p:cNvSpPr/>
          <p:nvPr/>
        </p:nvSpPr>
        <p:spPr>
          <a:xfrm>
            <a:off x="761695" y="5524805"/>
            <a:ext cx="38405" cy="952805"/>
          </a:xfrm>
          <a:prstGeom prst="roundRect">
            <a:avLst>
              <a:gd name="adj" fmla="val 190475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1500" y="286207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75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PROGRESS &amp; DEPLOYMENT STATUS</a:t>
            </a:r>
            <a:endParaRPr lang="en-US" sz="27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1695" y="137160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43000" y="1333195"/>
            <a:ext cx="104013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Production Deployment Live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1647749"/>
            <a:ext cx="103638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platform is fully deployed and globally accessible on Vercel's edge network, ensuring high availability and low latency for users worldwide.</a:t>
            </a:r>
            <a:endParaRPr lang="en-US" sz="13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1695" y="2356409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43000" y="2318004"/>
            <a:ext cx="104013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Serverless Architecture Active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2632558"/>
            <a:ext cx="103638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Edge Functions are successfully handling API requests and AI moderation pipelines, providing scalable serverless compute without infrastructure management overhead.</a:t>
            </a:r>
            <a:endParaRPr lang="en-US" sz="13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761695" y="3341218"/>
            <a:ext cx="200254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14654" y="3302813"/>
            <a:ext cx="104305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Robust Data Layer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1114654" y="3617366"/>
            <a:ext cx="10392156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 PostgreSQL integration is complete with Row Level Security (RLS) policies enforcing access control, and real-time subscriptions enabling instant UI updates.</a:t>
            </a:r>
            <a:endParaRPr lang="en-US" sz="13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1695" y="4325112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43000" y="4287622"/>
            <a:ext cx="104013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Optimization &amp; Monitoring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1143000" y="4602175"/>
            <a:ext cx="103638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monitoring is in place with optimized asset delivery via CDN. Initial load times and interaction latency metrics are meeting production targets.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1605686" y="5790895"/>
            <a:ext cx="251642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1423721" y="6019495"/>
            <a:ext cx="28794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https://resolgate.vercel.app/entry</a:t>
            </a:r>
            <a:endParaRPr lang="en-US" sz="12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 t="-2100" b="-2100"/>
          <a:stretch/>
        </p:blipFill>
        <p:spPr>
          <a:xfrm>
            <a:off x="5470855" y="5762549"/>
            <a:ext cx="9144" cy="47640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826910" y="5790895"/>
            <a:ext cx="37719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Code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6552590" y="6019495"/>
            <a:ext cx="43214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https://github.com/Abhilashchary/code-resol-vault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457200" y="6687007"/>
            <a:ext cx="111639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Project Review | Dept. of CSE, CMR Technical Campus</a:t>
            </a:r>
            <a:endParaRPr lang="en-US" sz="800" dirty="0"/>
          </a:p>
        </p:txBody>
      </p:sp>
      <p:pic>
        <p:nvPicPr>
          <p:cNvPr id="30" name="Image 7">
            <a:extLst>
              <a:ext uri="{FF2B5EF4-FFF2-40B4-BE49-F238E27FC236}">
                <a16:creationId xmlns:a16="http://schemas.microsoft.com/office/drawing/2014/main" id="{A68341F8-6DC9-CFFC-86BB-ED4387178287}"/>
              </a:ext>
            </a:extLst>
          </p:cNvPr>
          <p:cNvPicPr>
            <a:picLocks/>
          </p:cNvPicPr>
          <p:nvPr/>
        </p:nvPicPr>
        <p:blipFill rotWithShape="1"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1114569" y="-65315"/>
            <a:ext cx="1013082" cy="11622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48902" y="1429207"/>
            <a:ext cx="2857500" cy="2857500"/>
          </a:xfrm>
          <a:prstGeom prst="ellipse">
            <a:avLst/>
          </a:prstGeom>
          <a:solidFill>
            <a:srgbClr val="0F2C59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1904695"/>
            <a:ext cx="5372100" cy="4476902"/>
          </a:xfrm>
          <a:prstGeom prst="roundRect">
            <a:avLst>
              <a:gd name="adj" fmla="val 348"/>
            </a:avLst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904695"/>
            <a:ext cx="38405" cy="4476902"/>
          </a:xfrm>
          <a:prstGeom prst="roundRect">
            <a:avLst>
              <a:gd name="adj" fmla="val 40527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86500" y="1904695"/>
            <a:ext cx="5372100" cy="4476902"/>
          </a:xfrm>
          <a:prstGeom prst="roundRect">
            <a:avLst>
              <a:gd name="adj" fmla="val 348"/>
            </a:avLst>
          </a:prstGeom>
          <a:solidFill>
            <a:srgbClr val="F0FDF4"/>
          </a:solidFill>
          <a:ln/>
        </p:spPr>
      </p:sp>
      <p:sp>
        <p:nvSpPr>
          <p:cNvPr id="9" name="Shape 7"/>
          <p:cNvSpPr/>
          <p:nvPr/>
        </p:nvSpPr>
        <p:spPr>
          <a:xfrm>
            <a:off x="6286500" y="1904695"/>
            <a:ext cx="38405" cy="4476902"/>
          </a:xfrm>
          <a:prstGeom prst="roundRect">
            <a:avLst>
              <a:gd name="adj" fmla="val 40527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667805"/>
            <a:ext cx="12191695" cy="190195"/>
          </a:xfrm>
          <a:prstGeom prst="rect">
            <a:avLst/>
          </a:prstGeom>
          <a:solidFill>
            <a:srgbClr val="0F2C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952805"/>
            <a:ext cx="12191695" cy="384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71500" y="286207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75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TOOLS &amp; TECHNOLOGIES</a:t>
            </a:r>
            <a:endParaRPr lang="en-US" sz="2700" dirty="0"/>
          </a:p>
        </p:txBody>
      </p:sp>
      <p:sp>
        <p:nvSpPr>
          <p:cNvPr id="13" name="Text 10"/>
          <p:cNvSpPr txBox="1"/>
          <p:nvPr/>
        </p:nvSpPr>
        <p:spPr>
          <a:xfrm>
            <a:off x="571500" y="1238098"/>
            <a:ext cx="111255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utilizes a modern, serverless technology stack combining a robust frontend with scalable backend services and secure data management.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61695" y="2048256"/>
            <a:ext cx="50676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TECHNOLOGIES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61695" y="247619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505" y="2553005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285646" y="2476195"/>
            <a:ext cx="44577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 18.3.1 </a:t>
            </a:r>
            <a:r>
              <a:rPr lang="en-US" sz="1000" b="1" dirty="0">
                <a:solidFill>
                  <a:srgbClr val="EF444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v18.3.1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1285646" y="2771546"/>
            <a:ext cx="44577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Component-based UI library with concurrent rendering for responsive interfaces.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61695" y="323880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852221" y="3314700"/>
            <a:ext cx="200254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285646" y="3238805"/>
            <a:ext cx="44577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TypeScript </a:t>
            </a:r>
            <a:r>
              <a:rPr lang="en-US" sz="1000" b="1" dirty="0">
                <a:solidFill>
                  <a:srgbClr val="EF444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v5.8+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285646" y="3534156"/>
            <a:ext cx="5067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typing ensuring code reliability and minimizing runtime errors.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61695" y="400050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852221" y="4076395"/>
            <a:ext cx="200254" cy="2286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85646" y="4000500"/>
            <a:ext cx="44577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Vite </a:t>
            </a:r>
            <a:r>
              <a:rPr lang="en-US" sz="1000" b="1" dirty="0">
                <a:solidFill>
                  <a:srgbClr val="EF444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v5.4+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1285646" y="4295851"/>
            <a:ext cx="5067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Next-generation build tool offering instant server start and fast HMR.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761695" y="476219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38505" y="4839005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285646" y="4762195"/>
            <a:ext cx="44577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Tailwind CSS </a:t>
            </a:r>
            <a:r>
              <a:rPr lang="en-US" sz="1000" b="1" dirty="0">
                <a:solidFill>
                  <a:srgbClr val="EF444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v3+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85646" y="5057546"/>
            <a:ext cx="44577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Utility-first CSS framework for rapid UI development and consistent design.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761695" y="552480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rcRect t="-45" b="-45"/>
          <a:stretch/>
        </p:blipFill>
        <p:spPr>
          <a:xfrm>
            <a:off x="823874" y="5600700"/>
            <a:ext cx="256946" cy="22860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285646" y="5524805"/>
            <a:ext cx="44961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shadcn/ui + Radix UI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1285646" y="5743346"/>
            <a:ext cx="44577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Accessible component primitives for robust and inclusive interface design.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6476695" y="2048256"/>
            <a:ext cx="50676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65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 &amp; DATABASE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6476695" y="247619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rcRect l="-80" r="-80"/>
          <a:stretch/>
        </p:blipFill>
        <p:spPr>
          <a:xfrm>
            <a:off x="6524244" y="2553005"/>
            <a:ext cx="286207" cy="2286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7000646" y="2476195"/>
            <a:ext cx="44961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53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Vercel Platform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7000646" y="2695651"/>
            <a:ext cx="44577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Serverless deployment platform with edge network for global availability.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6476695" y="323880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rcRect l="-57" r="-57"/>
          <a:stretch/>
        </p:blipFill>
        <p:spPr>
          <a:xfrm>
            <a:off x="6567221" y="3314700"/>
            <a:ext cx="200254" cy="22860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7000646" y="3238805"/>
            <a:ext cx="44577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53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Supabase PostgreSQL </a:t>
            </a:r>
            <a:r>
              <a:rPr lang="en-US" sz="1000" b="1" dirty="0">
                <a:solidFill>
                  <a:srgbClr val="EF444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v13+</a:t>
            </a:r>
            <a:endParaRPr lang="en-US" sz="1200" dirty="0"/>
          </a:p>
        </p:txBody>
      </p:sp>
      <p:sp>
        <p:nvSpPr>
          <p:cNvPr id="43" name="Text 33"/>
          <p:cNvSpPr txBox="1"/>
          <p:nvPr/>
        </p:nvSpPr>
        <p:spPr>
          <a:xfrm>
            <a:off x="7000646" y="3534156"/>
            <a:ext cx="44577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Managed database with Row Level Security (RLS) and automated backups.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6476695" y="400050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553505" y="4076395"/>
            <a:ext cx="228600" cy="228600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7000646" y="4000500"/>
            <a:ext cx="44961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53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Edge Functions</a:t>
            </a:r>
            <a:endParaRPr lang="en-US" sz="1200" dirty="0"/>
          </a:p>
        </p:txBody>
      </p:sp>
      <p:sp>
        <p:nvSpPr>
          <p:cNvPr id="47" name="Text 36"/>
          <p:cNvSpPr txBox="1"/>
          <p:nvPr/>
        </p:nvSpPr>
        <p:spPr>
          <a:xfrm>
            <a:off x="7000646" y="4219956"/>
            <a:ext cx="44577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Serverless compute for AI moderation and API routes running at the edge.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6476695" y="476219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2"/>
          <a:srcRect l="-80" r="-80"/>
          <a:stretch/>
        </p:blipFill>
        <p:spPr>
          <a:xfrm>
            <a:off x="6524244" y="4839005"/>
            <a:ext cx="286207" cy="228600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7000646" y="4762195"/>
            <a:ext cx="44961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53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Subscriptions</a:t>
            </a:r>
            <a:endParaRPr lang="en-US" sz="1200" dirty="0"/>
          </a:p>
        </p:txBody>
      </p:sp>
      <p:sp>
        <p:nvSpPr>
          <p:cNvPr id="51" name="Text 39"/>
          <p:cNvSpPr txBox="1"/>
          <p:nvPr/>
        </p:nvSpPr>
        <p:spPr>
          <a:xfrm>
            <a:off x="7000646" y="4981651"/>
            <a:ext cx="44577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WebSocket integration for instant updates on approvals and file status.</a:t>
            </a:r>
            <a:endParaRPr lang="en-US" sz="1000" dirty="0"/>
          </a:p>
        </p:txBody>
      </p:sp>
      <p:sp>
        <p:nvSpPr>
          <p:cNvPr id="52" name="Shape 40"/>
          <p:cNvSpPr/>
          <p:nvPr/>
        </p:nvSpPr>
        <p:spPr>
          <a:xfrm>
            <a:off x="6476695" y="552480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3" name="Image 10" descr="preencoded.png"/>
          <p:cNvPicPr>
            <a:picLocks noChangeAspect="1"/>
          </p:cNvPicPr>
          <p:nvPr/>
        </p:nvPicPr>
        <p:blipFill>
          <a:blip r:embed="rId13"/>
          <a:srcRect l="-57" r="-57"/>
          <a:stretch/>
        </p:blipFill>
        <p:spPr>
          <a:xfrm>
            <a:off x="6567221" y="5600700"/>
            <a:ext cx="200254" cy="228600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7000646" y="5524805"/>
            <a:ext cx="44961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53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Security Infrastructure</a:t>
            </a:r>
            <a:endParaRPr lang="en-US" sz="1200" dirty="0"/>
          </a:p>
        </p:txBody>
      </p:sp>
      <p:sp>
        <p:nvSpPr>
          <p:cNvPr id="55" name="Text 42"/>
          <p:cNvSpPr txBox="1"/>
          <p:nvPr/>
        </p:nvSpPr>
        <p:spPr>
          <a:xfrm>
            <a:off x="7000646" y="5743346"/>
            <a:ext cx="49149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Encryption in transit/at rest and Supabase Auth integration.</a:t>
            </a:r>
            <a:endParaRPr lang="en-US" sz="1000" dirty="0"/>
          </a:p>
        </p:txBody>
      </p:sp>
      <p:sp>
        <p:nvSpPr>
          <p:cNvPr id="56" name="Text 43"/>
          <p:cNvSpPr txBox="1"/>
          <p:nvPr/>
        </p:nvSpPr>
        <p:spPr>
          <a:xfrm>
            <a:off x="457200" y="6687007"/>
            <a:ext cx="111639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Project Review | Dept. of CSE, CMR Technical Campus</a:t>
            </a:r>
            <a:endParaRPr lang="en-US" sz="800" dirty="0"/>
          </a:p>
        </p:txBody>
      </p:sp>
      <p:pic>
        <p:nvPicPr>
          <p:cNvPr id="58" name="Image 7">
            <a:extLst>
              <a:ext uri="{FF2B5EF4-FFF2-40B4-BE49-F238E27FC236}">
                <a16:creationId xmlns:a16="http://schemas.microsoft.com/office/drawing/2014/main" id="{998402F7-2632-99F2-799A-336A4D8CB0A3}"/>
              </a:ext>
            </a:extLst>
          </p:cNvPr>
          <p:cNvPicPr>
            <a:picLocks/>
          </p:cNvPicPr>
          <p:nvPr/>
        </p:nvPicPr>
        <p:blipFill rotWithShape="1"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1114569" y="-65315"/>
            <a:ext cx="1013082" cy="11622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571500" y="1809598"/>
            <a:ext cx="5352898" cy="430499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6286500" y="1809598"/>
            <a:ext cx="5352898" cy="430499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667805"/>
            <a:ext cx="12191695" cy="190195"/>
          </a:xfrm>
          <a:prstGeom prst="rect">
            <a:avLst/>
          </a:prstGeom>
          <a:solidFill>
            <a:srgbClr val="0F2C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rcRect t="-19" b="-19"/>
          <a:stretch/>
        </p:blipFill>
        <p:spPr>
          <a:xfrm>
            <a:off x="571500" y="1333195"/>
            <a:ext cx="5333695" cy="476402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66598" y="1904695"/>
            <a:ext cx="5143500" cy="666598"/>
          </a:xfrm>
          <a:prstGeom prst="roundRect">
            <a:avLst>
              <a:gd name="adj" fmla="val 15677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666598" y="2667305"/>
            <a:ext cx="5143500" cy="676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6"/>
          <p:cNvSpPr/>
          <p:nvPr/>
        </p:nvSpPr>
        <p:spPr>
          <a:xfrm>
            <a:off x="666598" y="3334817"/>
            <a:ext cx="514350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66598" y="3429000"/>
            <a:ext cx="5143500" cy="666598"/>
          </a:xfrm>
          <a:prstGeom prst="roundRect">
            <a:avLst>
              <a:gd name="adj" fmla="val 15677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66598" y="4190695"/>
            <a:ext cx="5143500" cy="676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9"/>
          <p:cNvSpPr/>
          <p:nvPr/>
        </p:nvSpPr>
        <p:spPr>
          <a:xfrm>
            <a:off x="666598" y="4858207"/>
            <a:ext cx="514350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66598" y="4953305"/>
            <a:ext cx="5143500" cy="666598"/>
          </a:xfrm>
          <a:prstGeom prst="roundRect">
            <a:avLst>
              <a:gd name="adj" fmla="val 15677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rcRect t="-19" b="-19"/>
          <a:stretch/>
        </p:blipFill>
        <p:spPr>
          <a:xfrm>
            <a:off x="6286500" y="1333195"/>
            <a:ext cx="5333695" cy="47640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381598" y="1904695"/>
            <a:ext cx="5143500" cy="571500"/>
          </a:xfrm>
          <a:prstGeom prst="roundRect">
            <a:avLst>
              <a:gd name="adj" fmla="val 21333"/>
            </a:avLst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381598" y="2572207"/>
            <a:ext cx="5143500" cy="5806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3"/>
          <p:cNvSpPr/>
          <p:nvPr/>
        </p:nvSpPr>
        <p:spPr>
          <a:xfrm>
            <a:off x="6381598" y="3143707"/>
            <a:ext cx="514350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381598" y="3238805"/>
            <a:ext cx="5143500" cy="571500"/>
          </a:xfrm>
          <a:prstGeom prst="roundRect">
            <a:avLst>
              <a:gd name="adj" fmla="val 21333"/>
            </a:avLst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381598" y="3905402"/>
            <a:ext cx="5143500" cy="5806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6"/>
          <p:cNvSpPr/>
          <p:nvPr/>
        </p:nvSpPr>
        <p:spPr>
          <a:xfrm>
            <a:off x="6381598" y="4476902"/>
            <a:ext cx="514350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381598" y="4572000"/>
            <a:ext cx="5143500" cy="571500"/>
          </a:xfrm>
          <a:prstGeom prst="roundRect">
            <a:avLst>
              <a:gd name="adj" fmla="val 21333"/>
            </a:avLst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381598" y="5238598"/>
            <a:ext cx="5143500" cy="5806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19"/>
          <p:cNvSpPr/>
          <p:nvPr/>
        </p:nvSpPr>
        <p:spPr>
          <a:xfrm>
            <a:off x="6381598" y="5810098"/>
            <a:ext cx="514350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rcRect t="-401" b="-401"/>
          <a:stretch/>
        </p:blipFill>
        <p:spPr>
          <a:xfrm>
            <a:off x="0" y="952805"/>
            <a:ext cx="12191695" cy="3840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71500" y="286207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75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REQUIREMENTS &amp; SPECIFICATIONS</a:t>
            </a:r>
            <a:endParaRPr lang="en-US" sz="27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1695" y="1447495"/>
            <a:ext cx="228600" cy="2286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143000" y="1429207"/>
            <a:ext cx="3924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Hardware Requirements</a:t>
            </a:r>
            <a:endParaRPr lang="en-US" sz="15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9244" y="2109521"/>
            <a:ext cx="190195" cy="19019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238098" y="2000707"/>
            <a:ext cx="1410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Processor</a:t>
            </a:r>
            <a:endParaRPr lang="en-US" sz="1100" dirty="0"/>
          </a:p>
        </p:txBody>
      </p:sp>
      <p:sp>
        <p:nvSpPr>
          <p:cNvPr id="32" name="Text 23"/>
          <p:cNvSpPr txBox="1"/>
          <p:nvPr/>
        </p:nvSpPr>
        <p:spPr>
          <a:xfrm>
            <a:off x="1238098" y="2229307"/>
            <a:ext cx="1410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Spec</a:t>
            </a:r>
            <a:endParaRPr lang="en-US" sz="900" dirty="0"/>
          </a:p>
        </p:txBody>
      </p:sp>
      <p:sp>
        <p:nvSpPr>
          <p:cNvPr id="33" name="Text 24"/>
          <p:cNvSpPr txBox="1"/>
          <p:nvPr/>
        </p:nvSpPr>
        <p:spPr>
          <a:xfrm>
            <a:off x="2667305" y="2095805"/>
            <a:ext cx="30678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 Core i5 or equivalent</a:t>
            </a:r>
            <a:endParaRPr lang="en-US" sz="11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9"/>
          <a:srcRect l="-1282" r="-1282"/>
          <a:stretch/>
        </p:blipFill>
        <p:spPr>
          <a:xfrm>
            <a:off x="809244" y="2872130"/>
            <a:ext cx="219456" cy="190195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1238098" y="2762402"/>
            <a:ext cx="1410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(RAM)</a:t>
            </a:r>
            <a:endParaRPr lang="en-US" sz="1100" dirty="0"/>
          </a:p>
        </p:txBody>
      </p:sp>
      <p:sp>
        <p:nvSpPr>
          <p:cNvPr id="36" name="Text 26"/>
          <p:cNvSpPr txBox="1"/>
          <p:nvPr/>
        </p:nvSpPr>
        <p:spPr>
          <a:xfrm>
            <a:off x="1238098" y="2991002"/>
            <a:ext cx="1410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Capacity</a:t>
            </a:r>
            <a:endParaRPr lang="en-US" sz="900" dirty="0"/>
          </a:p>
        </p:txBody>
      </p:sp>
      <p:sp>
        <p:nvSpPr>
          <p:cNvPr id="37" name="Text 27"/>
          <p:cNvSpPr txBox="1"/>
          <p:nvPr/>
        </p:nvSpPr>
        <p:spPr>
          <a:xfrm>
            <a:off x="2667305" y="2857500"/>
            <a:ext cx="30678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8GB minimum</a:t>
            </a:r>
            <a:endParaRPr lang="en-US" sz="110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09244" y="3633826"/>
            <a:ext cx="190195" cy="190195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1238098" y="3524098"/>
            <a:ext cx="1410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</a:t>
            </a:r>
            <a:endParaRPr lang="en-US" sz="1100" dirty="0"/>
          </a:p>
        </p:txBody>
      </p:sp>
      <p:sp>
        <p:nvSpPr>
          <p:cNvPr id="40" name="Text 29"/>
          <p:cNvSpPr txBox="1"/>
          <p:nvPr/>
        </p:nvSpPr>
        <p:spPr>
          <a:xfrm>
            <a:off x="1238098" y="3752698"/>
            <a:ext cx="1410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Disk Space</a:t>
            </a:r>
            <a:endParaRPr lang="en-US" sz="900" dirty="0"/>
          </a:p>
        </p:txBody>
      </p:sp>
      <p:sp>
        <p:nvSpPr>
          <p:cNvPr id="41" name="Text 30"/>
          <p:cNvSpPr txBox="1"/>
          <p:nvPr/>
        </p:nvSpPr>
        <p:spPr>
          <a:xfrm>
            <a:off x="2667305" y="3619195"/>
            <a:ext cx="30678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50GB SSD</a:t>
            </a:r>
            <a:endParaRPr lang="en-US" sz="1100" dirty="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09244" y="4395521"/>
            <a:ext cx="237744" cy="190195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1238098" y="4286707"/>
            <a:ext cx="1410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</a:t>
            </a:r>
            <a:endParaRPr lang="en-US" sz="1100" dirty="0"/>
          </a:p>
        </p:txBody>
      </p:sp>
      <p:sp>
        <p:nvSpPr>
          <p:cNvPr id="44" name="Text 32"/>
          <p:cNvSpPr txBox="1"/>
          <p:nvPr/>
        </p:nvSpPr>
        <p:spPr>
          <a:xfrm>
            <a:off x="1238098" y="4515307"/>
            <a:ext cx="1410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Connectivity</a:t>
            </a:r>
            <a:endParaRPr lang="en-US" sz="900" dirty="0"/>
          </a:p>
        </p:txBody>
      </p:sp>
      <p:sp>
        <p:nvSpPr>
          <p:cNvPr id="45" name="Text 33"/>
          <p:cNvSpPr txBox="1"/>
          <p:nvPr/>
        </p:nvSpPr>
        <p:spPr>
          <a:xfrm>
            <a:off x="2667305" y="4381805"/>
            <a:ext cx="30678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Broadband 10+ Mbps</a:t>
            </a:r>
            <a:endParaRPr lang="en-US" sz="1100" dirty="0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2"/>
          <a:srcRect l="-1282" r="-1282"/>
          <a:stretch/>
        </p:blipFill>
        <p:spPr>
          <a:xfrm>
            <a:off x="809244" y="5158130"/>
            <a:ext cx="219456" cy="190195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1238098" y="5048402"/>
            <a:ext cx="1410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</a:t>
            </a:r>
            <a:endParaRPr lang="en-US" sz="1100" dirty="0"/>
          </a:p>
        </p:txBody>
      </p:sp>
      <p:sp>
        <p:nvSpPr>
          <p:cNvPr id="48" name="Text 35"/>
          <p:cNvSpPr txBox="1"/>
          <p:nvPr/>
        </p:nvSpPr>
        <p:spPr>
          <a:xfrm>
            <a:off x="1238098" y="5277002"/>
            <a:ext cx="1410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Resolution</a:t>
            </a:r>
            <a:endParaRPr lang="en-US" sz="900" dirty="0"/>
          </a:p>
        </p:txBody>
      </p:sp>
      <p:sp>
        <p:nvSpPr>
          <p:cNvPr id="49" name="Text 36"/>
          <p:cNvSpPr txBox="1"/>
          <p:nvPr/>
        </p:nvSpPr>
        <p:spPr>
          <a:xfrm>
            <a:off x="2667305" y="5143500"/>
            <a:ext cx="30678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1920×1080 minimum</a:t>
            </a:r>
            <a:endParaRPr lang="en-US" sz="1100" dirty="0"/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13"/>
          <a:srcRect t="-45" b="-45"/>
          <a:stretch/>
        </p:blipFill>
        <p:spPr>
          <a:xfrm>
            <a:off x="6476695" y="1447495"/>
            <a:ext cx="256946" cy="228600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6858000" y="1429207"/>
            <a:ext cx="3924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Software &amp; Stack</a:t>
            </a:r>
            <a:endParaRPr lang="en-US" sz="1500" dirty="0"/>
          </a:p>
        </p:txBody>
      </p:sp>
      <p:sp>
        <p:nvSpPr>
          <p:cNvPr id="52" name="Text 38"/>
          <p:cNvSpPr txBox="1"/>
          <p:nvPr/>
        </p:nvSpPr>
        <p:spPr>
          <a:xfrm>
            <a:off x="6572707" y="2048256"/>
            <a:ext cx="14100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System</a:t>
            </a:r>
            <a:endParaRPr lang="en-US" sz="1000" dirty="0"/>
          </a:p>
        </p:txBody>
      </p:sp>
      <p:sp>
        <p:nvSpPr>
          <p:cNvPr id="53" name="Text 39"/>
          <p:cNvSpPr txBox="1"/>
          <p:nvPr/>
        </p:nvSpPr>
        <p:spPr>
          <a:xfrm>
            <a:off x="8001000" y="2048256"/>
            <a:ext cx="3448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 10+ / macOS 11+ / Linux</a:t>
            </a:r>
            <a:endParaRPr lang="en-US" sz="1000" dirty="0"/>
          </a:p>
        </p:txBody>
      </p:sp>
      <p:sp>
        <p:nvSpPr>
          <p:cNvPr id="54" name="Text 40"/>
          <p:cNvSpPr txBox="1"/>
          <p:nvPr/>
        </p:nvSpPr>
        <p:spPr>
          <a:xfrm>
            <a:off x="6572707" y="2714854"/>
            <a:ext cx="14100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Runtime Env</a:t>
            </a:r>
            <a:endParaRPr lang="en-US" sz="1000" dirty="0"/>
          </a:p>
        </p:txBody>
      </p:sp>
      <p:sp>
        <p:nvSpPr>
          <p:cNvPr id="55" name="Text 41"/>
          <p:cNvSpPr txBox="1"/>
          <p:nvPr/>
        </p:nvSpPr>
        <p:spPr>
          <a:xfrm>
            <a:off x="8001000" y="2714854"/>
            <a:ext cx="3448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18+ LTS; npm 9+ / yarn 3+</a:t>
            </a:r>
            <a:endParaRPr lang="en-US" sz="1000" dirty="0"/>
          </a:p>
        </p:txBody>
      </p:sp>
      <p:sp>
        <p:nvSpPr>
          <p:cNvPr id="56" name="Text 42"/>
          <p:cNvSpPr txBox="1"/>
          <p:nvPr/>
        </p:nvSpPr>
        <p:spPr>
          <a:xfrm>
            <a:off x="6572707" y="3381451"/>
            <a:ext cx="14100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Tech</a:t>
            </a:r>
            <a:endParaRPr lang="en-US" sz="1000" dirty="0"/>
          </a:p>
        </p:txBody>
      </p:sp>
      <p:sp>
        <p:nvSpPr>
          <p:cNvPr id="57" name="Text 43"/>
          <p:cNvSpPr txBox="1"/>
          <p:nvPr/>
        </p:nvSpPr>
        <p:spPr>
          <a:xfrm>
            <a:off x="8001000" y="3381451"/>
            <a:ext cx="3448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18.3.1, TypeScript 5.8+, Vite 5.4+</a:t>
            </a:r>
            <a:endParaRPr lang="en-US" sz="1000" dirty="0"/>
          </a:p>
        </p:txBody>
      </p:sp>
      <p:sp>
        <p:nvSpPr>
          <p:cNvPr id="58" name="Text 44"/>
          <p:cNvSpPr txBox="1"/>
          <p:nvPr/>
        </p:nvSpPr>
        <p:spPr>
          <a:xfrm>
            <a:off x="6572707" y="4048049"/>
            <a:ext cx="14100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&amp; Styling</a:t>
            </a:r>
            <a:endParaRPr lang="en-US" sz="1000" dirty="0"/>
          </a:p>
        </p:txBody>
      </p:sp>
      <p:sp>
        <p:nvSpPr>
          <p:cNvPr id="59" name="Text 45"/>
          <p:cNvSpPr txBox="1"/>
          <p:nvPr/>
        </p:nvSpPr>
        <p:spPr>
          <a:xfrm>
            <a:off x="8001000" y="4048049"/>
            <a:ext cx="3448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Tailwind CSS, shadcn/ui, Lucide Icons</a:t>
            </a:r>
            <a:endParaRPr lang="en-US" sz="1000" dirty="0"/>
          </a:p>
        </p:txBody>
      </p:sp>
      <p:sp>
        <p:nvSpPr>
          <p:cNvPr id="60" name="Text 46"/>
          <p:cNvSpPr txBox="1"/>
          <p:nvPr/>
        </p:nvSpPr>
        <p:spPr>
          <a:xfrm>
            <a:off x="6572707" y="4714646"/>
            <a:ext cx="14100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&amp; DB</a:t>
            </a:r>
            <a:endParaRPr lang="en-US" sz="1000" dirty="0"/>
          </a:p>
        </p:txBody>
      </p:sp>
      <p:sp>
        <p:nvSpPr>
          <p:cNvPr id="61" name="Text 47"/>
          <p:cNvSpPr txBox="1"/>
          <p:nvPr/>
        </p:nvSpPr>
        <p:spPr>
          <a:xfrm>
            <a:off x="8001000" y="4714646"/>
            <a:ext cx="3448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 (PostgreSQL 13+), Vercel Edge</a:t>
            </a:r>
            <a:endParaRPr lang="en-US" sz="1000" dirty="0"/>
          </a:p>
        </p:txBody>
      </p:sp>
      <p:sp>
        <p:nvSpPr>
          <p:cNvPr id="62" name="Text 48"/>
          <p:cNvSpPr txBox="1"/>
          <p:nvPr/>
        </p:nvSpPr>
        <p:spPr>
          <a:xfrm>
            <a:off x="6572707" y="5381244"/>
            <a:ext cx="14100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&amp; Forms</a:t>
            </a:r>
            <a:endParaRPr lang="en-US" sz="1000" dirty="0"/>
          </a:p>
        </p:txBody>
      </p:sp>
      <p:sp>
        <p:nvSpPr>
          <p:cNvPr id="63" name="Text 49"/>
          <p:cNvSpPr txBox="1"/>
          <p:nvPr/>
        </p:nvSpPr>
        <p:spPr>
          <a:xfrm>
            <a:off x="8001000" y="5381244"/>
            <a:ext cx="3448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TanStack Query, React Hook Form</a:t>
            </a:r>
            <a:endParaRPr lang="en-US" sz="1000" dirty="0"/>
          </a:p>
        </p:txBody>
      </p:sp>
      <p:sp>
        <p:nvSpPr>
          <p:cNvPr id="64" name="Text 50"/>
          <p:cNvSpPr txBox="1"/>
          <p:nvPr/>
        </p:nvSpPr>
        <p:spPr>
          <a:xfrm>
            <a:off x="457200" y="6705295"/>
            <a:ext cx="111639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Project Review | Dept. of CSE, CMR Technical Campus</a:t>
            </a:r>
            <a:endParaRPr lang="en-US" sz="800" dirty="0"/>
          </a:p>
        </p:txBody>
      </p:sp>
      <p:pic>
        <p:nvPicPr>
          <p:cNvPr id="66" name="Image 7">
            <a:extLst>
              <a:ext uri="{FF2B5EF4-FFF2-40B4-BE49-F238E27FC236}">
                <a16:creationId xmlns:a16="http://schemas.microsoft.com/office/drawing/2014/main" id="{0CA0F3CF-2A72-8199-4887-02525FC7590D}"/>
              </a:ext>
            </a:extLst>
          </p:cNvPr>
          <p:cNvPicPr>
            <a:picLocks/>
          </p:cNvPicPr>
          <p:nvPr/>
        </p:nvPicPr>
        <p:blipFill rotWithShape="1"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1114569" y="-65315"/>
            <a:ext cx="1013082" cy="11622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320" r="-320"/>
          <a:stretch/>
        </p:blipFill>
        <p:spPr>
          <a:xfrm>
            <a:off x="1714500" y="3047695"/>
            <a:ext cx="19202" cy="286207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384" r="-384"/>
          <a:stretch/>
        </p:blipFill>
        <p:spPr>
          <a:xfrm>
            <a:off x="4381805" y="3333902"/>
            <a:ext cx="19202" cy="476402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320" r="-320"/>
          <a:stretch/>
        </p:blipFill>
        <p:spPr>
          <a:xfrm>
            <a:off x="7048195" y="3047695"/>
            <a:ext cx="19202" cy="286207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 l="-384" r="-384"/>
          <a:stretch/>
        </p:blipFill>
        <p:spPr>
          <a:xfrm>
            <a:off x="9715500" y="3333902"/>
            <a:ext cx="19202" cy="476402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0F2C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952805" y="3333902"/>
            <a:ext cx="10287000" cy="38405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6"/>
          <a:srcRect t="-401" b="-401"/>
          <a:stretch/>
        </p:blipFill>
        <p:spPr>
          <a:xfrm>
            <a:off x="0" y="952805"/>
            <a:ext cx="12191695" cy="38405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476402" y="1904695"/>
            <a:ext cx="2495398" cy="1257300"/>
          </a:xfrm>
          <a:prstGeom prst="roundRect">
            <a:avLst>
              <a:gd name="adj" fmla="val 881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Shape 5"/>
          <p:cNvSpPr/>
          <p:nvPr/>
        </p:nvSpPr>
        <p:spPr>
          <a:xfrm>
            <a:off x="3143707" y="3810305"/>
            <a:ext cx="2495398" cy="1257300"/>
          </a:xfrm>
          <a:prstGeom prst="roundRect">
            <a:avLst>
              <a:gd name="adj" fmla="val 8815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" name="Shape 6"/>
          <p:cNvSpPr/>
          <p:nvPr/>
        </p:nvSpPr>
        <p:spPr>
          <a:xfrm>
            <a:off x="5810098" y="1904695"/>
            <a:ext cx="2495398" cy="1257300"/>
          </a:xfrm>
          <a:prstGeom prst="roundRect">
            <a:avLst>
              <a:gd name="adj" fmla="val 8815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5" name="Shape 7"/>
          <p:cNvSpPr/>
          <p:nvPr/>
        </p:nvSpPr>
        <p:spPr>
          <a:xfrm>
            <a:off x="8477402" y="3810305"/>
            <a:ext cx="2495398" cy="1257300"/>
          </a:xfrm>
          <a:prstGeom prst="roundRect">
            <a:avLst>
              <a:gd name="adj" fmla="val 8815"/>
            </a:avLst>
          </a:prstGeom>
          <a:solidFill>
            <a:srgbClr val="F3E8FF"/>
          </a:solidFill>
          <a:ln w="12700">
            <a:solidFill>
              <a:srgbClr val="D8B4FE"/>
            </a:solidFill>
            <a:prstDash val="solid"/>
          </a:ln>
        </p:spPr>
      </p:sp>
      <p:sp>
        <p:nvSpPr>
          <p:cNvPr id="16" name="Shape 8"/>
          <p:cNvSpPr/>
          <p:nvPr/>
        </p:nvSpPr>
        <p:spPr>
          <a:xfrm>
            <a:off x="3143707" y="5333695"/>
            <a:ext cx="7830007" cy="780898"/>
          </a:xfrm>
          <a:prstGeom prst="roundRect">
            <a:avLst>
              <a:gd name="adj" fmla="val 2284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9"/>
          <p:cNvSpPr txBox="1"/>
          <p:nvPr/>
        </p:nvSpPr>
        <p:spPr>
          <a:xfrm>
            <a:off x="571500" y="286207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75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WORK &amp; REMAINING MODULES</a:t>
            </a:r>
            <a:endParaRPr lang="en-US" sz="2700" dirty="0"/>
          </a:p>
        </p:txBody>
      </p:sp>
      <p:sp>
        <p:nvSpPr>
          <p:cNvPr id="18" name="Shape 10"/>
          <p:cNvSpPr/>
          <p:nvPr/>
        </p:nvSpPr>
        <p:spPr>
          <a:xfrm>
            <a:off x="1524305" y="3143707"/>
            <a:ext cx="418795" cy="4187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619402" y="3238805"/>
            <a:ext cx="228600" cy="22860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624535" y="2048256"/>
            <a:ext cx="2179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Enhanced AI Models</a:t>
            </a:r>
            <a:endParaRPr lang="en-US" sz="1200" dirty="0"/>
          </a:p>
        </p:txBody>
      </p:sp>
      <p:sp>
        <p:nvSpPr>
          <p:cNvPr id="21" name="Text 12"/>
          <p:cNvSpPr txBox="1"/>
          <p:nvPr/>
        </p:nvSpPr>
        <p:spPr>
          <a:xfrm>
            <a:off x="629107" y="2305202"/>
            <a:ext cx="21717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Multimodal analysis combining visual and textual cues for higher accuracy.</a:t>
            </a:r>
            <a:endParaRPr lang="en-US" sz="900" dirty="0"/>
          </a:p>
        </p:txBody>
      </p:sp>
      <p:sp>
        <p:nvSpPr>
          <p:cNvPr id="22" name="Shape 13"/>
          <p:cNvSpPr/>
          <p:nvPr/>
        </p:nvSpPr>
        <p:spPr>
          <a:xfrm>
            <a:off x="4190695" y="3143707"/>
            <a:ext cx="418795" cy="4187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286707" y="3238805"/>
            <a:ext cx="228600" cy="228600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3291840" y="3952951"/>
            <a:ext cx="2179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3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Analytics Dashboard</a:t>
            </a:r>
            <a:endParaRPr lang="en-US" sz="1200" dirty="0"/>
          </a:p>
        </p:txBody>
      </p:sp>
      <p:sp>
        <p:nvSpPr>
          <p:cNvPr id="25" name="Text 15"/>
          <p:cNvSpPr txBox="1"/>
          <p:nvPr/>
        </p:nvSpPr>
        <p:spPr>
          <a:xfrm>
            <a:off x="3295498" y="4209898"/>
            <a:ext cx="21717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reporting on usage patterns, sharing statistics, and moderation effectiveness.</a:t>
            </a:r>
            <a:endParaRPr lang="en-US" sz="900" dirty="0"/>
          </a:p>
        </p:txBody>
      </p:sp>
      <p:sp>
        <p:nvSpPr>
          <p:cNvPr id="26" name="Shape 16"/>
          <p:cNvSpPr/>
          <p:nvPr/>
        </p:nvSpPr>
        <p:spPr>
          <a:xfrm>
            <a:off x="6858000" y="3143707"/>
            <a:ext cx="418795" cy="4187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953098" y="3238805"/>
            <a:ext cx="228600" cy="22860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5959145" y="2048256"/>
            <a:ext cx="2179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2D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Advanced Security</a:t>
            </a:r>
            <a:endParaRPr lang="en-US" sz="1200" dirty="0"/>
          </a:p>
        </p:txBody>
      </p:sp>
      <p:sp>
        <p:nvSpPr>
          <p:cNvPr id="29" name="Text 18"/>
          <p:cNvSpPr txBox="1"/>
          <p:nvPr/>
        </p:nvSpPr>
        <p:spPr>
          <a:xfrm>
            <a:off x="5962802" y="2305202"/>
            <a:ext cx="21717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Client-side end-to-end encryption with user-managed keys for maximum privacy.</a:t>
            </a:r>
            <a:endParaRPr lang="en-US" sz="900" dirty="0"/>
          </a:p>
        </p:txBody>
      </p:sp>
      <p:sp>
        <p:nvSpPr>
          <p:cNvPr id="30" name="Shape 19"/>
          <p:cNvSpPr/>
          <p:nvPr/>
        </p:nvSpPr>
        <p:spPr>
          <a:xfrm>
            <a:off x="9525305" y="3143707"/>
            <a:ext cx="418795" cy="4187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333EA"/>
            </a:solidFill>
            <a:prstDash val="solid"/>
          </a:ln>
        </p:spPr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9648749" y="3238805"/>
            <a:ext cx="171907" cy="228600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8625535" y="3952951"/>
            <a:ext cx="2179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81C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Mobile Workflows</a:t>
            </a:r>
            <a:endParaRPr lang="en-US" sz="1200" dirty="0"/>
          </a:p>
        </p:txBody>
      </p:sp>
      <p:sp>
        <p:nvSpPr>
          <p:cNvPr id="33" name="Text 21"/>
          <p:cNvSpPr txBox="1"/>
          <p:nvPr/>
        </p:nvSpPr>
        <p:spPr>
          <a:xfrm>
            <a:off x="8630107" y="4209898"/>
            <a:ext cx="21717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Dedicated mobile apps with offline access capabilities for rural connectivity.</a:t>
            </a:r>
            <a:endParaRPr lang="en-US" sz="900" dirty="0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3429000" y="5548579"/>
            <a:ext cx="200254" cy="267005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4000500" y="5477256"/>
            <a:ext cx="67821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 Enterprise Integrations &amp; Multi-Tenancy</a:t>
            </a:r>
            <a:endParaRPr lang="en-US" sz="1200" dirty="0"/>
          </a:p>
        </p:txBody>
      </p:sp>
      <p:sp>
        <p:nvSpPr>
          <p:cNvPr id="36" name="Text 23"/>
          <p:cNvSpPr txBox="1"/>
          <p:nvPr/>
        </p:nvSpPr>
        <p:spPr>
          <a:xfrm>
            <a:off x="4000500" y="5705856"/>
            <a:ext cx="7353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Deeper integration with LMS platforms, SSO support, and multi-tenant architecture for organizational scaling.</a:t>
            </a:r>
            <a:endParaRPr lang="en-US" sz="900" dirty="0"/>
          </a:p>
        </p:txBody>
      </p:sp>
      <p:sp>
        <p:nvSpPr>
          <p:cNvPr id="37" name="Text 24"/>
          <p:cNvSpPr txBox="1"/>
          <p:nvPr/>
        </p:nvSpPr>
        <p:spPr>
          <a:xfrm>
            <a:off x="457200" y="6590995"/>
            <a:ext cx="111639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Project Review | Dept. of CSE, CMR Technical Campus</a:t>
            </a:r>
            <a:endParaRPr lang="en-US" sz="800" dirty="0"/>
          </a:p>
        </p:txBody>
      </p:sp>
      <p:pic>
        <p:nvPicPr>
          <p:cNvPr id="39" name="Image 7">
            <a:extLst>
              <a:ext uri="{FF2B5EF4-FFF2-40B4-BE49-F238E27FC236}">
                <a16:creationId xmlns:a16="http://schemas.microsoft.com/office/drawing/2014/main" id="{041A5C45-78C3-40FB-D5D0-E409B0489FFF}"/>
              </a:ext>
            </a:extLst>
          </p:cNvPr>
          <p:cNvPicPr>
            <a:picLocks/>
          </p:cNvPicPr>
          <p:nvPr/>
        </p:nvPicPr>
        <p:blipFill rotWithShape="1"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1114569" y="-65315"/>
            <a:ext cx="1013082" cy="11622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667805"/>
            <a:ext cx="12191695" cy="190195"/>
          </a:xfrm>
          <a:prstGeom prst="rect">
            <a:avLst/>
          </a:prstGeom>
          <a:solidFill>
            <a:srgbClr val="0F2C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1238098"/>
            <a:ext cx="5352898" cy="4334256"/>
          </a:xfrm>
          <a:prstGeom prst="roundRect">
            <a:avLst>
              <a:gd name="adj" fmla="val 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1500" y="1238098"/>
            <a:ext cx="5352898" cy="38405"/>
          </a:xfrm>
          <a:prstGeom prst="roundRect">
            <a:avLst>
              <a:gd name="adj" fmla="val 83725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86500" y="1238098"/>
            <a:ext cx="5352898" cy="4334256"/>
          </a:xfrm>
          <a:prstGeom prst="roundRect">
            <a:avLst>
              <a:gd name="adj" fmla="val 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86500" y="1238098"/>
            <a:ext cx="5352898" cy="38405"/>
          </a:xfrm>
          <a:prstGeom prst="roundRect">
            <a:avLst>
              <a:gd name="adj" fmla="val 83725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1500" y="5667451"/>
            <a:ext cx="11067898" cy="923544"/>
          </a:xfrm>
          <a:prstGeom prst="roundRect">
            <a:avLst>
              <a:gd name="adj" fmla="val 1633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952805"/>
            <a:ext cx="12191695" cy="384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71500" y="286207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75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 &amp; IMPACT</a:t>
            </a:r>
            <a:endParaRPr lang="en-US" sz="27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7707" y="1457554"/>
            <a:ext cx="304495" cy="30449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33195" y="1476756"/>
            <a:ext cx="4401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4E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Achievements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047902" y="2000707"/>
            <a:ext cx="46488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Deployment: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Successfully deployed on Vercel with global edge network availability, demonstrating real-world readiness.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1047902" y="2874874"/>
            <a:ext cx="46488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AI-Driven Efficiency: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Integrated AI moderation reduced manual review workload by ~60% while maintaining consistent policy application.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047902" y="3749040"/>
            <a:ext cx="46488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Defense-in-Depth Security: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Implemented robust security via Row Level Security (RLS) policies, protecting data even if application logic is bypassed.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1047902" y="4623206"/>
            <a:ext cx="46488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User-Centric Design: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Delivered intuitive drag-and-drop interfaces and guest access that minimizes training requirements for rural education contexts.</a:t>
            </a:r>
            <a:endParaRPr lang="en-US" sz="1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72707" y="1457554"/>
            <a:ext cx="304495" cy="3044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048195" y="1476756"/>
            <a:ext cx="4401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 &amp; Scalability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762902" y="2000707"/>
            <a:ext cx="46488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Architecture: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Serverless design ensures the platform can grow from dozens to thousands of users without infrastructure overhaul.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762902" y="2874874"/>
            <a:ext cx="46488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Educational Relevance: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Provides a controlled, safe environment for sharing learning materials in rural and educational settings.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6762902" y="3749040"/>
            <a:ext cx="46488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Excellence: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99.99% uptime via Supabase and Vercel infrastructure ensures reliability for critical learning resources.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762902" y="4623206"/>
            <a:ext cx="46488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Future-Ready: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Modular codebase allows easy integration of advanced AI models and mobile-first features in upcoming phases.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914400" y="5857646"/>
            <a:ext cx="103638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"RESOLGATE bridges the gap between secure compliance and operational efficiency, delivering a modern, AI-enhanced repository tailored for education."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457200" y="6687007"/>
            <a:ext cx="111639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Project Review | Dept. of CSE, CMR Technical Campus</a:t>
            </a:r>
            <a:endParaRPr lang="en-US" sz="800" dirty="0"/>
          </a:p>
        </p:txBody>
      </p:sp>
      <p:pic>
        <p:nvPicPr>
          <p:cNvPr id="28" name="Image 7">
            <a:extLst>
              <a:ext uri="{FF2B5EF4-FFF2-40B4-BE49-F238E27FC236}">
                <a16:creationId xmlns:a16="http://schemas.microsoft.com/office/drawing/2014/main" id="{0E1228C3-F66F-49F2-663F-516108AF613C}"/>
              </a:ext>
            </a:extLst>
          </p:cNvPr>
          <p:cNvPicPr>
            <a:picLocks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1114569" y="-65315"/>
            <a:ext cx="1013082" cy="11622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667805"/>
            <a:ext cx="12191695" cy="190195"/>
          </a:xfrm>
          <a:prstGeom prst="rect">
            <a:avLst/>
          </a:prstGeom>
          <a:solidFill>
            <a:srgbClr val="0F2C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1333195"/>
            <a:ext cx="6687007" cy="3666744"/>
          </a:xfrm>
          <a:prstGeom prst="roundRect">
            <a:avLst>
              <a:gd name="adj" fmla="val 10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1500" y="1333195"/>
            <a:ext cx="6687007" cy="38405"/>
          </a:xfrm>
          <a:prstGeom prst="roundRect">
            <a:avLst>
              <a:gd name="adj" fmla="val 9894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1500" y="5143500"/>
            <a:ext cx="6687007" cy="1162202"/>
          </a:xfrm>
          <a:prstGeom prst="roundRect">
            <a:avLst>
              <a:gd name="adj" fmla="val 1031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24598" y="1333195"/>
            <a:ext cx="4114800" cy="3666744"/>
          </a:xfrm>
          <a:prstGeom prst="roundRect">
            <a:avLst>
              <a:gd name="adj" fmla="val 10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524598" y="1333195"/>
            <a:ext cx="4114800" cy="38405"/>
          </a:xfrm>
          <a:prstGeom prst="roundRect">
            <a:avLst>
              <a:gd name="adj" fmla="val 9894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24598" y="5143500"/>
            <a:ext cx="4095598" cy="1143000"/>
          </a:xfrm>
          <a:prstGeom prst="roundRect">
            <a:avLst>
              <a:gd name="adj" fmla="val 10667"/>
            </a:avLst>
          </a:prstGeom>
          <a:solidFill>
            <a:srgbClr val="0F2C5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952805"/>
            <a:ext cx="12191695" cy="3840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71500" y="286207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75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REFERENCES &amp; ACKNOWLEDGMENTS</a:t>
            </a:r>
            <a:endParaRPr lang="en-US" sz="27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857707" y="1543507"/>
            <a:ext cx="200254" cy="228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38098" y="1524305"/>
            <a:ext cx="4877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Academic References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1047902" y="2000707"/>
            <a:ext cx="28346" cy="42885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171346" y="2000707"/>
            <a:ext cx="5668366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[1] Chen, J., et al. (2023).</a:t>
            </a:r>
            <a:r>
              <a:rPr lang="en-US" sz="1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"Challenges in Scalable Content Moderation: Human Fatigue and Inconsistency." </a:t>
            </a:r>
            <a:r>
              <a:rPr lang="en-US" sz="1100" i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Journal of Digital Media Ethics</a:t>
            </a:r>
            <a:r>
              <a:rPr lang="en-US" sz="1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15(2), 45-62. 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1047902" y="2619756"/>
            <a:ext cx="28346" cy="42885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171346" y="2619756"/>
            <a:ext cx="5668366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[2] Li, X., et al. (2023).</a:t>
            </a:r>
            <a:r>
              <a:rPr lang="en-US" sz="1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"Multimodal Fusion for Improved AI Content Safety Detection." </a:t>
            </a:r>
            <a:r>
              <a:rPr lang="en-US" sz="1100" i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IEEE Transactions on Artificial Intelligence</a:t>
            </a:r>
            <a:r>
              <a:rPr lang="en-US" sz="1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8(4), 112-128. 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1047902" y="3238805"/>
            <a:ext cx="28346" cy="647395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171346" y="3238805"/>
            <a:ext cx="5668366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[3] Wang, Y., &amp; Zhang, L. (2022).</a:t>
            </a:r>
            <a:r>
              <a:rPr lang="en-US" sz="1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"Defense-in-Depth: Implementing Row Level Security in Modern Web Applications." </a:t>
            </a:r>
            <a:r>
              <a:rPr lang="en-US" sz="1100" i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 Symposium on Cloud Computing</a:t>
            </a:r>
            <a:r>
              <a:rPr lang="en-US" sz="1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2022. 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1047902" y="4071823"/>
            <a:ext cx="28346" cy="42885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171346" y="4071823"/>
            <a:ext cx="5668366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[4] Kumar, R. (2022).</a:t>
            </a:r>
            <a:r>
              <a:rPr lang="en-US" sz="1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"Customizable Workflow Engines for Enterprise Compliance." </a:t>
            </a:r>
            <a:r>
              <a:rPr lang="en-US" sz="1100" i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International Journal of Software Engineering</a:t>
            </a:r>
            <a:r>
              <a:rPr lang="en-US" sz="1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12(1), 78-94. </a:t>
            </a:r>
            <a:endParaRPr lang="en-US" sz="11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707" y="5348326"/>
            <a:ext cx="190195" cy="19019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238098" y="5333695"/>
            <a:ext cx="5829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6"/>
              </a:rPr>
              <a:t>Live Demo:</a:t>
            </a:r>
            <a:r>
              <a:rPr lang="en-US" sz="110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6"/>
              </a:rPr>
              <a:t>https://resolgate.vercel.app/entry</a:t>
            </a:r>
            <a:endParaRPr lang="en-US" sz="11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7"/>
          <a:srcRect t="-884" b="-884"/>
          <a:stretch/>
        </p:blipFill>
        <p:spPr>
          <a:xfrm>
            <a:off x="857707" y="5729630"/>
            <a:ext cx="181051" cy="1901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238098" y="5715000"/>
            <a:ext cx="5829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Code:</a:t>
            </a:r>
            <a:r>
              <a:rPr lang="en-US" sz="1100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https://github.com/Abhilashchary/code-resol-vault</a:t>
            </a:r>
            <a:endParaRPr lang="en-US" sz="11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7810805" y="1543507"/>
            <a:ext cx="286207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191195" y="1524305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4E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Acknowledgments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7810805" y="2000707"/>
            <a:ext cx="36009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 express our sincere gratitude to our guide </a:t>
            </a:r>
            <a:r>
              <a:rPr lang="en-US" sz="11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Bhagyashree B.M</a:t>
            </a:r>
            <a:r>
              <a:rPr lang="en-US" sz="1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(Assistant Professor) for invaluable guidance. 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7810805" y="2829154"/>
            <a:ext cx="36009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Special thanks to </a:t>
            </a:r>
            <a:r>
              <a:rPr lang="en-US" sz="11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Nuthanakanti Bhaskar</a:t>
            </a:r>
            <a:r>
              <a:rPr lang="en-US" sz="1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(HoD, CSE) and </a:t>
            </a:r>
            <a:r>
              <a:rPr lang="en-US" sz="11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A. Raji Reddy</a:t>
            </a:r>
            <a:r>
              <a:rPr lang="en-US" sz="1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(Director) for their continuous encouragement. 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7810805" y="3657600"/>
            <a:ext cx="36009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 also thank the Project Review Committee and the Department of CSE, </a:t>
            </a:r>
            <a:r>
              <a:rPr lang="en-US" sz="11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CMR Technical Campus</a:t>
            </a:r>
            <a:r>
              <a:rPr lang="en-US" sz="1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for providing the infrastructure and support. 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7467905" y="5477256"/>
            <a:ext cx="42108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34" name="Text 27"/>
          <p:cNvSpPr txBox="1"/>
          <p:nvPr/>
        </p:nvSpPr>
        <p:spPr>
          <a:xfrm>
            <a:off x="7467905" y="5896051"/>
            <a:ext cx="4210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&amp; Discussion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457200" y="6687007"/>
            <a:ext cx="111639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RESOLGATE Project Review | Dept. of CSE, CMR Technical Campus</a:t>
            </a:r>
            <a:endParaRPr lang="en-US" sz="800" dirty="0"/>
          </a:p>
        </p:txBody>
      </p:sp>
      <p:pic>
        <p:nvPicPr>
          <p:cNvPr id="37" name="Image 7">
            <a:extLst>
              <a:ext uri="{FF2B5EF4-FFF2-40B4-BE49-F238E27FC236}">
                <a16:creationId xmlns:a16="http://schemas.microsoft.com/office/drawing/2014/main" id="{7D1A5A57-D255-478B-9345-F9B1B0528FFA}"/>
              </a:ext>
            </a:extLst>
          </p:cNvPr>
          <p:cNvPicPr>
            <a:picLocks/>
          </p:cNvPicPr>
          <p:nvPr/>
        </p:nvPicPr>
        <p:blipFill rotWithShape="1"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1114569" y="-65315"/>
            <a:ext cx="1013082" cy="11622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4489</Words>
  <Application>Microsoft Office PowerPoint</Application>
  <PresentationFormat>Widescreen</PresentationFormat>
  <Paragraphs>492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Fira Code</vt:lpstr>
      <vt:lpstr>Inter</vt:lpstr>
      <vt:lpstr>Lora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꧁ᗩʙʜɪʟᴀꜱʜ ࿐</cp:lastModifiedBy>
  <cp:revision>4</cp:revision>
  <dcterms:created xsi:type="dcterms:W3CDTF">2026-03-23T14:25:31Z</dcterms:created>
  <dcterms:modified xsi:type="dcterms:W3CDTF">2026-03-24T04:59:25Z</dcterms:modified>
</cp:coreProperties>
</file>